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89" r:id="rId3"/>
    <p:sldId id="290" r:id="rId4"/>
    <p:sldId id="259" r:id="rId5"/>
    <p:sldId id="260" r:id="rId6"/>
    <p:sldId id="258" r:id="rId7"/>
    <p:sldId id="261" r:id="rId8"/>
    <p:sldId id="262" r:id="rId9"/>
    <p:sldId id="291" r:id="rId10"/>
    <p:sldId id="264" r:id="rId11"/>
    <p:sldId id="263" r:id="rId12"/>
    <p:sldId id="292" r:id="rId13"/>
    <p:sldId id="293" r:id="rId14"/>
    <p:sldId id="294" r:id="rId15"/>
    <p:sldId id="267" r:id="rId16"/>
    <p:sldId id="295" r:id="rId17"/>
    <p:sldId id="296" r:id="rId18"/>
    <p:sldId id="266" r:id="rId19"/>
    <p:sldId id="268" r:id="rId20"/>
    <p:sldId id="271" r:id="rId21"/>
    <p:sldId id="269" r:id="rId22"/>
    <p:sldId id="272" r:id="rId23"/>
    <p:sldId id="297" r:id="rId24"/>
    <p:sldId id="273" r:id="rId25"/>
    <p:sldId id="274" r:id="rId26"/>
    <p:sldId id="275" r:id="rId27"/>
    <p:sldId id="298" r:id="rId28"/>
    <p:sldId id="276" r:id="rId29"/>
    <p:sldId id="280" r:id="rId30"/>
    <p:sldId id="284" r:id="rId31"/>
    <p:sldId id="277" r:id="rId32"/>
    <p:sldId id="278" r:id="rId33"/>
    <p:sldId id="279" r:id="rId34"/>
    <p:sldId id="285" r:id="rId35"/>
    <p:sldId id="281" r:id="rId36"/>
    <p:sldId id="282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6-02-11T19:46:07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22511 7530 874,'4'-108'-12,"-8"24"10,-5-27 2,-6 7-2,-12-19 2,-3 10-2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6-02-07T20:40:38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17978 6162 874,'-111'1'-6,"20"6"3,-11 2 2,-50 11-2,60-6 0,-55 6-2,-10-7 7,41 3 1,191 96-9,26-31-4,6-8-10,-3-7-26,-1 5-31,-8-3-24,-11-4-22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22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22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922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22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22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17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18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861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2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3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204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920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20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20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1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172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173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174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17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17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7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178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9179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180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9181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182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183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184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5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186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187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188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4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19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19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3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214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215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9216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217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218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7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198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49199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9200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201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202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209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210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211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21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9190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919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919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919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03A7-47AC-4AD7-818F-E13546846046}" type="datetimeFigureOut">
              <a:rPr lang="fr-MA" smtClean="0"/>
              <a:t>12/02/2026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C54D0-7BF9-47CE-B57B-868A63260FD1}" type="slidenum">
              <a:rPr lang="fr-MA" smtClean="0"/>
              <a:t>‹#›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4.png"/><Relationship Id="rId7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8.png"/><Relationship Id="rId10" Type="http://schemas.openxmlformats.org/officeDocument/2006/relationships/image" Target="../media/image49.png"/><Relationship Id="rId4" Type="http://schemas.openxmlformats.org/officeDocument/2006/relationships/image" Target="../media/image35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emf"/><Relationship Id="rId4" Type="http://schemas.openxmlformats.org/officeDocument/2006/relationships/image" Target="../media/image11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ous-titre 2"/>
          <p:cNvSpPr>
            <a:spLocks noGrp="1"/>
          </p:cNvSpPr>
          <p:nvPr>
            <p:ph type="subTitle" idx="1"/>
          </p:nvPr>
        </p:nvSpPr>
        <p:spPr>
          <a:xfrm>
            <a:off x="1421684" y="2275513"/>
            <a:ext cx="9654862" cy="2194887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fr-MA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Premier principe de la thermodynamique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BBB016C-0B65-4F33-AD8D-252F23983FE0}"/>
              </a:ext>
            </a:extLst>
          </p:cNvPr>
          <p:cNvSpPr txBox="1"/>
          <p:nvPr/>
        </p:nvSpPr>
        <p:spPr>
          <a:xfrm>
            <a:off x="205408" y="105824"/>
            <a:ext cx="11781183" cy="4308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MA" sz="22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fr-FR" sz="2200" i="0" u="none" strike="noStrike" baseline="0" dirty="0"/>
              <a:t>DE LA MÉCANIQUE À LA THERMODYNAMIQUE : FORMES D’ÉNERGIE ET TRANSFERTS D’ÉNERGIE</a:t>
            </a:r>
            <a:endParaRPr lang="fr-MA" sz="22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81B7FE-3D1A-493F-8337-6861ADFFFF51}"/>
              </a:ext>
            </a:extLst>
          </p:cNvPr>
          <p:cNvSpPr txBox="1"/>
          <p:nvPr/>
        </p:nvSpPr>
        <p:spPr>
          <a:xfrm>
            <a:off x="205408" y="634375"/>
            <a:ext cx="8437880" cy="44704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L’énergie mécanique n’est pas une grandeur conservative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8A68FB-9D5A-4D50-9E28-332AD0D68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704" y="907590"/>
            <a:ext cx="3120887" cy="2842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A12207-7B90-4A35-9FED-A0B19A6E9574}"/>
              </a:ext>
            </a:extLst>
          </p:cNvPr>
          <p:cNvSpPr txBox="1"/>
          <p:nvPr/>
        </p:nvSpPr>
        <p:spPr>
          <a:xfrm>
            <a:off x="205407" y="1179080"/>
            <a:ext cx="8437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0" i="0" u="none" strike="noStrike" baseline="0" dirty="0">
                <a:latin typeface="TimesNewRoman"/>
              </a:rPr>
              <a:t>On étudie une masse </a:t>
            </a:r>
            <a:r>
              <a:rPr lang="fr-FR" sz="2000" b="0" i="1" u="none" strike="noStrike" baseline="0" dirty="0">
                <a:latin typeface="TimesNewRoman,Italic"/>
              </a:rPr>
              <a:t>m </a:t>
            </a:r>
            <a:r>
              <a:rPr lang="fr-FR" sz="2000" b="0" i="0" u="none" strike="noStrike" baseline="0" dirty="0">
                <a:latin typeface="TimesNewRoman"/>
              </a:rPr>
              <a:t>accrochée à un ressort dans une enceinte calorifugée.</a:t>
            </a:r>
          </a:p>
          <a:p>
            <a:pPr algn="l"/>
            <a:r>
              <a:rPr lang="fr-FR" sz="2000" dirty="0">
                <a:latin typeface="TimesNewRoman"/>
              </a:rPr>
              <a:t>Système isolé de l’extérieur.</a:t>
            </a:r>
            <a:endParaRPr lang="fr-FR" sz="2000" b="0" i="0" u="none" strike="noStrike" baseline="0" dirty="0">
              <a:latin typeface="TimesNew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imesNewRoman"/>
              </a:rPr>
              <a:t>Système = {masse </a:t>
            </a:r>
            <a:r>
              <a:rPr lang="fr-FR" sz="2000" b="0" i="1" u="none" strike="noStrike" baseline="0" dirty="0">
                <a:latin typeface="TimesNewRoman,Italic"/>
              </a:rPr>
              <a:t>m</a:t>
            </a:r>
            <a:r>
              <a:rPr lang="fr-FR" sz="2000" b="0" i="0" u="none" strike="noStrike" baseline="0" dirty="0">
                <a:latin typeface="TimesNewRoman"/>
              </a:rPr>
              <a:t>}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imesNewRoman"/>
              </a:rPr>
              <a:t>Référentiel terrestre supposé galiléen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imesNewRoman"/>
              </a:rPr>
              <a:t>Bilan des forces : poids, force exercée par le ressort (force conservative qui</a:t>
            </a:r>
          </a:p>
          <a:p>
            <a:pPr algn="l"/>
            <a:r>
              <a:rPr lang="fr-FR" sz="2000" b="0" i="0" u="none" strike="noStrike" baseline="0" dirty="0">
                <a:latin typeface="TimesNewRoman"/>
              </a:rPr>
              <a:t>dérive d’une énergie potentielle) et forces de frottement non conservatives entre</a:t>
            </a:r>
          </a:p>
          <a:p>
            <a:pPr algn="l"/>
            <a:r>
              <a:rPr lang="fr-FR" sz="2000" b="0" i="0" u="none" strike="noStrike" baseline="0" dirty="0">
                <a:latin typeface="TimesNewRoman"/>
              </a:rPr>
              <a:t>la masse </a:t>
            </a:r>
            <a:r>
              <a:rPr lang="fr-FR" sz="2000" b="0" i="1" u="none" strike="noStrike" baseline="0" dirty="0">
                <a:latin typeface="TimesNewRoman,Italic"/>
              </a:rPr>
              <a:t>m </a:t>
            </a:r>
            <a:r>
              <a:rPr lang="fr-FR" sz="2000" b="0" i="0" u="none" strike="noStrike" baseline="0" dirty="0">
                <a:latin typeface="TimesNewRoman"/>
              </a:rPr>
              <a:t>et l’air.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imesNewRoman"/>
              </a:rPr>
              <a:t>Le système n’est pas conservatif. On n’a pas conservation de l’énergie</a:t>
            </a:r>
          </a:p>
          <a:p>
            <a:pPr algn="l"/>
            <a:r>
              <a:rPr lang="fr-FR" sz="2000" b="0" i="0" u="none" strike="noStrike" baseline="0" dirty="0">
                <a:latin typeface="TimesNewRoman"/>
              </a:rPr>
              <a:t>mécanique. Le théorème de l’énergie mécanique s’écrit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1E834-08CF-41BD-8BBD-1CA0F703F928}"/>
                  </a:ext>
                </a:extLst>
              </p:cNvPr>
              <p:cNvSpPr txBox="1"/>
              <p:nvPr/>
            </p:nvSpPr>
            <p:spPr>
              <a:xfrm>
                <a:off x="4636918" y="4211460"/>
                <a:ext cx="2946640" cy="385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𝒏𝒐𝒏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𝒄𝒐𝒏𝒔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1E834-08CF-41BD-8BBD-1CA0F703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918" y="4211460"/>
                <a:ext cx="2946640" cy="385555"/>
              </a:xfrm>
              <a:prstGeom prst="rect">
                <a:avLst/>
              </a:prstGeom>
              <a:blipFill>
                <a:blip r:embed="rId3"/>
                <a:stretch>
                  <a:fillRect l="-2070" r="-1863" b="-79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2DDB04B-D0F2-4937-8856-19D54D5EE99B}"/>
              </a:ext>
            </a:extLst>
          </p:cNvPr>
          <p:cNvSpPr txBox="1"/>
          <p:nvPr/>
        </p:nvSpPr>
        <p:spPr>
          <a:xfrm>
            <a:off x="205408" y="4993733"/>
            <a:ext cx="11781183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fr-FR" sz="2400" b="1" i="0" u="none" strike="noStrike" baseline="0" dirty="0">
                <a:latin typeface="MV Boli" panose="02000500030200090000" pitchFamily="2" charset="0"/>
                <a:cs typeface="MV Boli" panose="02000500030200090000" pitchFamily="2" charset="0"/>
              </a:rPr>
              <a:t>On a donc une dissipation de l’énergie mécanique due aux forces de frottement. L’énergie mécanique d’un système, même isolé et fermé, n’est pas une grandeur conservative.</a:t>
            </a:r>
            <a:endParaRPr lang="fr-FR" sz="24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2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4">
            <a:extLst>
              <a:ext uri="{FF2B5EF4-FFF2-40B4-BE49-F238E27FC236}">
                <a16:creationId xmlns:a16="http://schemas.microsoft.com/office/drawing/2014/main" id="{917563E3-6B58-47F8-940F-7FE5D78C11BB}"/>
              </a:ext>
            </a:extLst>
          </p:cNvPr>
          <p:cNvSpPr txBox="1"/>
          <p:nvPr/>
        </p:nvSpPr>
        <p:spPr>
          <a:xfrm>
            <a:off x="284920" y="183801"/>
            <a:ext cx="4603120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</a:t>
            </a:r>
            <a:r>
              <a:rPr lang="fr-FR" sz="2400" i="1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 de vue thermodynamique</a:t>
            </a:r>
            <a:endParaRPr lang="fr-MA" sz="24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19DC4-1B7C-4AA7-A9A6-B9DA9BDC3359}"/>
                  </a:ext>
                </a:extLst>
              </p:cNvPr>
              <p:cNvSpPr txBox="1"/>
              <p:nvPr/>
            </p:nvSpPr>
            <p:spPr>
              <a:xfrm>
                <a:off x="284920" y="834961"/>
                <a:ext cx="11801062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000" b="0" i="0" u="none" strike="noStrike" baseline="0" dirty="0">
                    <a:latin typeface="TimesNewRoman"/>
                  </a:rPr>
                  <a:t>Les forces de frottement mettent en jeu des interactions entre un système mécanique simple (pendule) et un système à grand nombre de particules (air). Ce problème peut donc être reformulé dans le cadre de la thermodynamique :</a:t>
                </a:r>
              </a:p>
              <a:p>
                <a:pPr algn="just"/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fr-FR" sz="2000" b="1" i="0" u="sng" strike="noStrike" baseline="0" dirty="0">
                    <a:latin typeface="TimesNewRoman"/>
                  </a:rPr>
                  <a:t>Système =</a:t>
                </a:r>
                <a:r>
                  <a:rPr lang="fr-FR" sz="2000" b="0" i="0" u="none" strike="noStrike" baseline="0" dirty="0">
                    <a:latin typeface="TimesNewRoman"/>
                  </a:rPr>
                  <a:t> {masse </a:t>
                </a:r>
                <a:r>
                  <a:rPr lang="fr-FR" sz="2000" b="0" i="1" u="none" strike="noStrike" baseline="0" dirty="0">
                    <a:latin typeface="TimesNewRoman,Italic"/>
                  </a:rPr>
                  <a:t>m </a:t>
                </a:r>
                <a:r>
                  <a:rPr lang="fr-FR" sz="2000" b="0" i="0" u="none" strike="noStrike" baseline="0" dirty="0">
                    <a:latin typeface="TimesNewRoman"/>
                  </a:rPr>
                  <a:t>+ ressort de masse négligeable + air}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r>
                  <a:rPr lang="fr-FR" sz="2000" b="0" i="0" u="none" strike="noStrike" baseline="0" dirty="0">
                    <a:latin typeface="TimesNewRoman"/>
                  </a:rPr>
                  <a:t>Il n’y a pas d’échange de matière : on a un système fermé.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r>
                  <a:rPr lang="fr-FR" sz="2000" b="0" i="0" u="none" strike="noStrike" baseline="0" dirty="0">
                    <a:latin typeface="TimesNewRoman"/>
                  </a:rPr>
                  <a:t>Il n’y pas d’échange de matière et d’énergie (enceinte rigide et calorifugée) : on a un système isolé.</a:t>
                </a:r>
              </a:p>
              <a:p>
                <a:pPr algn="just"/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fr-FR" sz="2000" b="0" i="0" u="none" strike="noStrike" baseline="0" dirty="0">
                    <a:latin typeface="TimesNewRoman"/>
                  </a:rPr>
                  <a:t>On mesure la température initiale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 et la température finale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. On constante que</a:t>
                </a:r>
                <a:r>
                  <a:rPr lang="fr-FR" sz="2000" b="0" i="0" u="none" strike="noStrike" dirty="0"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.</a:t>
                </a:r>
                <a:endParaRPr lang="fr-FR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19DC4-1B7C-4AA7-A9A6-B9DA9BDC3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0" y="834961"/>
                <a:ext cx="11801062" cy="2862322"/>
              </a:xfrm>
              <a:prstGeom prst="rect">
                <a:avLst/>
              </a:prstGeom>
              <a:blipFill>
                <a:blip r:embed="rId2"/>
                <a:stretch>
                  <a:fillRect l="-568" t="-1277" r="-517" b="-25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ACB961A-FFE1-4308-836B-56ECB71BED9A}"/>
              </a:ext>
            </a:extLst>
          </p:cNvPr>
          <p:cNvSpPr txBox="1"/>
          <p:nvPr/>
        </p:nvSpPr>
        <p:spPr>
          <a:xfrm>
            <a:off x="284920" y="3886778"/>
            <a:ext cx="4260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TimesNewRoman"/>
              </a:rPr>
              <a:t>On utilise le modèle du gaz parfait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85ADB1-2C34-4B1F-9921-C80017B05028}"/>
                  </a:ext>
                </a:extLst>
              </p:cNvPr>
              <p:cNvSpPr txBox="1"/>
              <p:nvPr/>
            </p:nvSpPr>
            <p:spPr>
              <a:xfrm>
                <a:off x="4562250" y="3902167"/>
                <a:ext cx="1623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85ADB1-2C34-4B1F-9921-C80017B0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250" y="3902167"/>
                <a:ext cx="1623201" cy="369332"/>
              </a:xfrm>
              <a:prstGeom prst="rect">
                <a:avLst/>
              </a:prstGeom>
              <a:blipFill>
                <a:blip r:embed="rId3"/>
                <a:stretch>
                  <a:fillRect l="-4120" r="-4120" b="-98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43F667-0A20-4A4C-A74C-0CE37DDEDB7E}"/>
                  </a:ext>
                </a:extLst>
              </p:cNvPr>
              <p:cNvSpPr txBox="1"/>
              <p:nvPr/>
            </p:nvSpPr>
            <p:spPr>
              <a:xfrm>
                <a:off x="4314318" y="4462416"/>
                <a:ext cx="40280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43F667-0A20-4A4C-A74C-0CE37DDED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318" y="4462416"/>
                <a:ext cx="4028026" cy="369332"/>
              </a:xfrm>
              <a:prstGeom prst="rect">
                <a:avLst/>
              </a:prstGeom>
              <a:blipFill>
                <a:blip r:embed="rId4"/>
                <a:stretch>
                  <a:fillRect l="-1364" r="-2273" b="-344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7455385-A772-4FE0-837C-D738199198EB}"/>
              </a:ext>
            </a:extLst>
          </p:cNvPr>
          <p:cNvSpPr txBox="1"/>
          <p:nvPr/>
        </p:nvSpPr>
        <p:spPr>
          <a:xfrm>
            <a:off x="3439543" y="4476383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Soit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1618A7-4DE4-42B4-AECF-A99F5ACD7DE4}"/>
              </a:ext>
            </a:extLst>
          </p:cNvPr>
          <p:cNvSpPr/>
          <p:nvPr/>
        </p:nvSpPr>
        <p:spPr>
          <a:xfrm>
            <a:off x="8746435" y="4584105"/>
            <a:ext cx="583814" cy="1846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B3FE4C-2F23-4AB6-8F60-814E61F0CBA9}"/>
                  </a:ext>
                </a:extLst>
              </p:cNvPr>
              <p:cNvSpPr txBox="1"/>
              <p:nvPr/>
            </p:nvSpPr>
            <p:spPr>
              <a:xfrm>
                <a:off x="9515062" y="4445604"/>
                <a:ext cx="13649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𝑼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𝑼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B3FE4C-2F23-4AB6-8F60-814E61F0C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062" y="4445604"/>
                <a:ext cx="1364972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BAA134E-9502-4647-BD8A-488D1CCF39EA}"/>
              </a:ext>
            </a:extLst>
          </p:cNvPr>
          <p:cNvSpPr txBox="1"/>
          <p:nvPr/>
        </p:nvSpPr>
        <p:spPr>
          <a:xfrm>
            <a:off x="284920" y="5318459"/>
            <a:ext cx="11522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TimesNewRoman"/>
              </a:rPr>
              <a:t>On a </a:t>
            </a:r>
            <a:r>
              <a:rPr lang="fr-FR" sz="2000" b="1" i="0" u="sng" strike="noStrike" baseline="0" dirty="0">
                <a:latin typeface="TimesNewRoman"/>
              </a:rPr>
              <a:t>conversion d’énergie mécanique</a:t>
            </a:r>
            <a:r>
              <a:rPr lang="fr-FR" sz="2000" b="0" i="0" u="none" strike="noStrike" baseline="0" dirty="0">
                <a:latin typeface="TimesNewRoman"/>
              </a:rPr>
              <a:t> du pendule en </a:t>
            </a:r>
            <a:r>
              <a:rPr lang="fr-FR" sz="2000" b="1" i="0" u="sng" strike="noStrike" baseline="0" dirty="0">
                <a:latin typeface="TimesNewRoman"/>
              </a:rPr>
              <a:t>énergie interne (forme thermique)</a:t>
            </a:r>
            <a:r>
              <a:rPr lang="fr-FR" sz="2000" i="0" strike="noStrike" baseline="0" dirty="0">
                <a:latin typeface="TimesNewRoman"/>
              </a:rPr>
              <a:t> </a:t>
            </a:r>
            <a:r>
              <a:rPr lang="fr-FR" sz="2000" b="0" i="0" u="none" strike="noStrike" baseline="0" dirty="0">
                <a:latin typeface="TimesNewRoman"/>
              </a:rPr>
              <a:t>de l’air via les chocs des molécules d’air sur le pendule.</a:t>
            </a:r>
            <a:endParaRPr lang="fr-FR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1D0605-B836-4EE9-AE0B-79DBD160E9F6}"/>
              </a:ext>
            </a:extLst>
          </p:cNvPr>
          <p:cNvSpPr txBox="1"/>
          <p:nvPr/>
        </p:nvSpPr>
        <p:spPr>
          <a:xfrm>
            <a:off x="2743804" y="6075019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Soit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B6F542-F81D-4B35-B18F-7FAFE95E3A63}"/>
                  </a:ext>
                </a:extLst>
              </p:cNvPr>
              <p:cNvSpPr txBox="1"/>
              <p:nvPr/>
            </p:nvSpPr>
            <p:spPr>
              <a:xfrm>
                <a:off x="3298228" y="6062138"/>
                <a:ext cx="5774446" cy="4616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</m:sub>
                      </m:sSub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𝒑𝒆𝒏𝒅𝒖𝒍𝒆</m:t>
                          </m:r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𝑼</m:t>
                      </m:r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𝒂𝒊𝒓</m:t>
                          </m:r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𝒄𝒐𝒏𝒔𝒕𝒂𝒏𝒕𝒆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B6F542-F81D-4B35-B18F-7FAFE95E3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228" y="6062138"/>
                <a:ext cx="5774446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651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ZoneTexte 6">
            <a:extLst>
              <a:ext uri="{FF2B5EF4-FFF2-40B4-BE49-F238E27FC236}">
                <a16:creationId xmlns:a16="http://schemas.microsoft.com/office/drawing/2014/main" id="{525412AC-8049-4AD4-93CA-FF986F979CDD}"/>
              </a:ext>
            </a:extLst>
          </p:cNvPr>
          <p:cNvSpPr txBox="1"/>
          <p:nvPr/>
        </p:nvSpPr>
        <p:spPr>
          <a:xfrm>
            <a:off x="457666" y="295436"/>
            <a:ext cx="4500880" cy="44704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 Energie d’un système fermé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479A53D-23ED-4885-A818-6C00A9E426D3}"/>
              </a:ext>
            </a:extLst>
          </p:cNvPr>
          <p:cNvSpPr txBox="1"/>
          <p:nvPr/>
        </p:nvSpPr>
        <p:spPr>
          <a:xfrm>
            <a:off x="417046" y="888760"/>
            <a:ext cx="108137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NewRoman"/>
              </a:rPr>
              <a:t>On veut définir une grandeur énergétique qui soit conservative pour un système fermé et isolé.</a:t>
            </a:r>
          </a:p>
          <a:p>
            <a:endParaRPr lang="fr-FR" sz="2000" dirty="0">
              <a:latin typeface="TimesNew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imesNewRoman"/>
              </a:rPr>
              <a:t>On considère un système thermodynamique fermé.</a:t>
            </a:r>
          </a:p>
          <a:p>
            <a:endParaRPr lang="fr-FR" sz="2000" dirty="0">
              <a:latin typeface="TimesNew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L’énergie totale d’un système fermé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0FCC47-62E0-41BA-B278-709BAD288843}"/>
                  </a:ext>
                </a:extLst>
              </p:cNvPr>
              <p:cNvSpPr txBox="1"/>
              <p:nvPr/>
            </p:nvSpPr>
            <p:spPr>
              <a:xfrm>
                <a:off x="5320747" y="2150644"/>
                <a:ext cx="201644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0FCC47-62E0-41BA-B278-709BAD288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747" y="2150644"/>
                <a:ext cx="2016449" cy="369332"/>
              </a:xfrm>
              <a:prstGeom prst="rect">
                <a:avLst/>
              </a:prstGeom>
              <a:blipFill>
                <a:blip r:embed="rId2"/>
                <a:stretch>
                  <a:fillRect l="-3323" r="-2719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0A31950-8913-4D92-8A09-D983769B1777}"/>
                  </a:ext>
                </a:extLst>
              </p:cNvPr>
              <p:cNvSpPr txBox="1"/>
              <p:nvPr/>
            </p:nvSpPr>
            <p:spPr>
              <a:xfrm>
                <a:off x="457665" y="2908278"/>
                <a:ext cx="11495795" cy="3084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fr-FR" sz="2400" b="1" i="0" u="sng" strike="noStrike" baseline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NewRoman,Bold"/>
                  </a:rPr>
                  <a:t>L’énergie interne </a:t>
                </a:r>
                <a:r>
                  <a:rPr lang="fr-FR" sz="2000" b="0" i="0" u="none" strike="noStrike" baseline="0" dirty="0">
                    <a:latin typeface="TimesNewRoman"/>
                  </a:rPr>
                  <a:t>d’un système thermodynamique est par définition la somme de l’énergie cinétique microscopique et de l’énergie potentielle d’interaction intérieur.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Ø"/>
                </a:pPr>
                <a:r>
                  <a:rPr lang="fr-FR" sz="2400" b="1" i="0" u="sng" strike="noStrike" baseline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NewRoman,Bold"/>
                  </a:rPr>
                  <a:t>L’énergie mécanique</a:t>
                </a:r>
                <a:r>
                  <a:rPr lang="fr-FR" sz="2000" b="1" i="0" u="none" strike="noStrike" baseline="0" dirty="0">
                    <a:latin typeface="TimesNewRoman,Bold"/>
                  </a:rPr>
                  <a:t> </a:t>
                </a:r>
                <a:r>
                  <a:rPr lang="fr-FR" sz="2000" b="0" i="0" u="none" strike="noStrike" baseline="0" dirty="0">
                    <a:latin typeface="TimesNewRoman"/>
                  </a:rPr>
                  <a:t>est la somme de l’énergie cinétique macroscopique (correspondant au déplacement d’ensemble notée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𝑚𝑎𝑐𝑟𝑜</m:t>
                        </m:r>
                      </m:sub>
                    </m:sSub>
                  </m:oMath>
                </a14:m>
                <a:r>
                  <a:rPr lang="fr-FR" sz="2000" b="0" i="1" u="none" strike="noStrike" baseline="0" dirty="0">
                    <a:latin typeface="TimesNewRoman,Italic"/>
                  </a:rPr>
                  <a:t> </a:t>
                </a:r>
                <a:r>
                  <a:rPr lang="fr-FR" sz="2000" b="0" i="0" u="none" strike="noStrike" baseline="0" dirty="0">
                    <a:latin typeface="TimesNewRoman"/>
                  </a:rPr>
                  <a:t>par la suite) et de l’énergie potentielle des forces extérieures (notée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fr-FR" sz="2000" b="0" i="1" u="none" strike="noStrike" baseline="0" dirty="0">
                    <a:latin typeface="TimesNewRoman,Italic"/>
                  </a:rPr>
                  <a:t> </a:t>
                </a:r>
                <a:r>
                  <a:rPr lang="fr-FR" sz="2000" b="0" i="0" u="none" strike="noStrike" baseline="0" dirty="0">
                    <a:latin typeface="TimesNewRoman"/>
                  </a:rPr>
                  <a:t>par la suite).</a:t>
                </a:r>
              </a:p>
              <a:p>
                <a:pPr algn="just"/>
                <a:endParaRPr lang="fr-FR" sz="2400" b="0" i="0" u="none" strike="noStrike" baseline="0" dirty="0">
                  <a:latin typeface="TimesNewRoman"/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0A31950-8913-4D92-8A09-D983769B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65" y="2908278"/>
                <a:ext cx="11495795" cy="3084049"/>
              </a:xfrm>
              <a:prstGeom prst="rect">
                <a:avLst/>
              </a:prstGeom>
              <a:blipFill>
                <a:blip r:embed="rId3"/>
                <a:stretch>
                  <a:fillRect l="-742" t="-1779" r="-5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6F41FFFA-83B1-445E-9D34-EA4856251619}"/>
                  </a:ext>
                </a:extLst>
              </p:cNvPr>
              <p:cNvSpPr txBox="1"/>
              <p:nvPr/>
            </p:nvSpPr>
            <p:spPr>
              <a:xfrm>
                <a:off x="4393096" y="3635512"/>
                <a:ext cx="3405808" cy="4947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𝑼</m:t>
                      </m:r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𝒄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𝒎𝒊𝒄𝒓𝒐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𝒑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𝒊𝒏𝒕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6F41FFFA-83B1-445E-9D34-EA4856251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096" y="3635512"/>
                <a:ext cx="3405808" cy="494751"/>
              </a:xfrm>
              <a:prstGeom prst="rect">
                <a:avLst/>
              </a:prstGeom>
              <a:blipFill>
                <a:blip r:embed="rId4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41EDAC52-E807-4514-A45A-5DCF129F91F7}"/>
                  </a:ext>
                </a:extLst>
              </p:cNvPr>
              <p:cNvSpPr txBox="1"/>
              <p:nvPr/>
            </p:nvSpPr>
            <p:spPr>
              <a:xfrm>
                <a:off x="4502658" y="5470261"/>
                <a:ext cx="3405808" cy="4947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𝒄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𝒎𝒂𝒄𝒓𝒐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𝒑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41EDAC52-E807-4514-A45A-5DCF129F9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658" y="5470261"/>
                <a:ext cx="3405808" cy="494751"/>
              </a:xfrm>
              <a:prstGeom prst="rect">
                <a:avLst/>
              </a:prstGeom>
              <a:blipFill>
                <a:blip r:embed="rId5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6">
            <a:extLst>
              <a:ext uri="{FF2B5EF4-FFF2-40B4-BE49-F238E27FC236}">
                <a16:creationId xmlns:a16="http://schemas.microsoft.com/office/drawing/2014/main" id="{865298B3-DF46-4F0A-80A3-72572145C456}"/>
              </a:ext>
            </a:extLst>
          </p:cNvPr>
          <p:cNvSpPr txBox="1"/>
          <p:nvPr/>
        </p:nvSpPr>
        <p:spPr>
          <a:xfrm>
            <a:off x="457666" y="295436"/>
            <a:ext cx="4041812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1.4 Enoncé du premier principe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031DD-5C00-4DA8-8169-40EBFF6FEC3F}"/>
              </a:ext>
            </a:extLst>
          </p:cNvPr>
          <p:cNvSpPr txBox="1"/>
          <p:nvPr/>
        </p:nvSpPr>
        <p:spPr>
          <a:xfrm>
            <a:off x="457666" y="1014455"/>
            <a:ext cx="8434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u="sng" dirty="0"/>
              <a:t>Enoncé :</a:t>
            </a:r>
            <a:r>
              <a:rPr lang="fr-FR" dirty="0"/>
              <a:t>  L’énergie total d’un système fermé et isolé est conservée.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A58086-1D98-45F6-A0CC-F537881E4E3E}"/>
                  </a:ext>
                </a:extLst>
              </p:cNvPr>
              <p:cNvSpPr txBox="1"/>
              <p:nvPr/>
            </p:nvSpPr>
            <p:spPr>
              <a:xfrm>
                <a:off x="2955235" y="1502641"/>
                <a:ext cx="3882887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𝒕𝒐𝒕</m:t>
                          </m:r>
                        </m:sub>
                      </m:sSub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𝒔𝒚𝒔𝒕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è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𝒎𝒆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𝒊𝒔𝒐𝒍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𝑪𝒕𝒆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A58086-1D98-45F6-A0CC-F537881E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235" y="1502641"/>
                <a:ext cx="3882887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5B082A1-3B14-46A5-94D6-AC4DBA25AA08}"/>
              </a:ext>
            </a:extLst>
          </p:cNvPr>
          <p:cNvSpPr txBox="1"/>
          <p:nvPr/>
        </p:nvSpPr>
        <p:spPr>
          <a:xfrm>
            <a:off x="457666" y="2393232"/>
            <a:ext cx="1023683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u="sng" dirty="0"/>
              <a:t>Transfert de l’énergie :</a:t>
            </a:r>
            <a:r>
              <a:rPr lang="fr-FR" dirty="0"/>
              <a:t> 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 le système est fermé mais n’est pas isolé? Montrons qu’il peut effectuer un échange d’énergie avec son extérieur.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62E0C66-FC59-4F53-AFB5-BEA7A3719EA0}"/>
              </a:ext>
            </a:extLst>
          </p:cNvPr>
          <p:cNvSpPr/>
          <p:nvPr/>
        </p:nvSpPr>
        <p:spPr>
          <a:xfrm rot="3507692">
            <a:off x="889213" y="4349553"/>
            <a:ext cx="1524000" cy="197456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22188E9-1A68-4CEB-B0C3-70886422D617}"/>
              </a:ext>
            </a:extLst>
          </p:cNvPr>
          <p:cNvSpPr/>
          <p:nvPr/>
        </p:nvSpPr>
        <p:spPr>
          <a:xfrm rot="3507692">
            <a:off x="702255" y="3050868"/>
            <a:ext cx="2757540" cy="421723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2551-D821-4DC5-954A-588FD7BD70F3}"/>
              </a:ext>
            </a:extLst>
          </p:cNvPr>
          <p:cNvSpPr txBox="1"/>
          <p:nvPr/>
        </p:nvSpPr>
        <p:spPr>
          <a:xfrm>
            <a:off x="887762" y="5107885"/>
            <a:ext cx="1509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Système </a:t>
            </a:r>
            <a:r>
              <a:rPr lang="fr-FR" sz="2800" b="1" dirty="0">
                <a:latin typeface="Symbol" panose="05050102010706020507" pitchFamily="18" charset="2"/>
              </a:rPr>
              <a:t>S</a:t>
            </a:r>
            <a:endParaRPr lang="fr-FR" sz="2400" b="1" dirty="0">
              <a:latin typeface="Symbol" panose="05050102010706020507" pitchFamily="18" charset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BC5238-5754-4A50-9943-BD56E0BEB9F2}"/>
              </a:ext>
            </a:extLst>
          </p:cNvPr>
          <p:cNvSpPr txBox="1"/>
          <p:nvPr/>
        </p:nvSpPr>
        <p:spPr>
          <a:xfrm>
            <a:off x="2397471" y="4030333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Extérieur</a:t>
            </a:r>
            <a:endParaRPr lang="fr-FR" sz="2400" b="1" dirty="0">
              <a:latin typeface="Symbol" panose="05050102010706020507" pitchFamily="18" charset="2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C8C0D1-EB75-4B99-AAD3-ED0A36FAFF96}"/>
              </a:ext>
            </a:extLst>
          </p:cNvPr>
          <p:cNvCxnSpPr>
            <a:cxnSpLocks/>
          </p:cNvCxnSpPr>
          <p:nvPr/>
        </p:nvCxnSpPr>
        <p:spPr>
          <a:xfrm flipH="1">
            <a:off x="4088252" y="4530468"/>
            <a:ext cx="7892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E33512-B703-44C9-957C-3B8A918F297E}"/>
                  </a:ext>
                </a:extLst>
              </p:cNvPr>
              <p:cNvSpPr txBox="1"/>
              <p:nvPr/>
            </p:nvSpPr>
            <p:spPr>
              <a:xfrm>
                <a:off x="4918047" y="4299635"/>
                <a:ext cx="4359141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Univers={Système S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fr-FR" sz="2400" dirty="0"/>
                  <a:t>  Extérieur}</a:t>
                </a:r>
                <a:endParaRPr lang="fr-FR" sz="2400" b="1" dirty="0">
                  <a:latin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E33512-B703-44C9-957C-3B8A918F2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047" y="4299635"/>
                <a:ext cx="4359141" cy="461665"/>
              </a:xfrm>
              <a:prstGeom prst="rect">
                <a:avLst/>
              </a:prstGeom>
              <a:blipFill>
                <a:blip r:embed="rId3"/>
                <a:stretch>
                  <a:fillRect l="-2092" t="-8974" r="-279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81B7F72-E08E-427D-B941-DD73E2FC0CC1}"/>
              </a:ext>
            </a:extLst>
          </p:cNvPr>
          <p:cNvSpPr txBox="1"/>
          <p:nvPr/>
        </p:nvSpPr>
        <p:spPr>
          <a:xfrm>
            <a:off x="3910258" y="5041240"/>
            <a:ext cx="8121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b="1" dirty="0">
                <a:latin typeface="MV Boli" panose="02000500030200090000" pitchFamily="2" charset="0"/>
                <a:cs typeface="MV Boli" panose="02000500030200090000" pitchFamily="2" charset="0"/>
              </a:rPr>
              <a:t>L’univers est par principe un système fermé et isolé.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1D106B8-FC74-4212-AF4C-4920D1B55CF2}"/>
                  </a:ext>
                </a:extLst>
              </p:cNvPr>
              <p:cNvSpPr txBox="1"/>
              <p:nvPr/>
            </p:nvSpPr>
            <p:spPr>
              <a:xfrm>
                <a:off x="4674937" y="5783490"/>
                <a:ext cx="5036692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𝑼𝒏𝒊𝒗𝒆𝒓𝒔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𝑬𝒙𝒕</m:t>
                          </m:r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𝒓𝒊𝒆𝒖𝒓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𝑪𝒕𝒆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1D106B8-FC74-4212-AF4C-4920D1B55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937" y="5783490"/>
                <a:ext cx="5036692" cy="461665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E463C-21CD-4599-8A7D-A0AD1AB5DA78}"/>
              </a:ext>
            </a:extLst>
          </p:cNvPr>
          <p:cNvSpPr txBox="1"/>
          <p:nvPr/>
        </p:nvSpPr>
        <p:spPr>
          <a:xfrm>
            <a:off x="477077" y="471899"/>
            <a:ext cx="4511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/>
              <a:t>Quand le système fermé évolue alors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F4ADF9-A2D8-43D7-9BEC-47C873C92F4F}"/>
                  </a:ext>
                </a:extLst>
              </p:cNvPr>
              <p:cNvSpPr txBox="1"/>
              <p:nvPr/>
            </p:nvSpPr>
            <p:spPr>
              <a:xfrm>
                <a:off x="5337545" y="410344"/>
                <a:ext cx="5820785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𝑼𝒏𝒊𝒗𝒆𝒓𝒔</m:t>
                          </m:r>
                        </m:sub>
                      </m:sSub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sub>
                      </m:sSub>
                      <m:r>
                        <a:rPr lang="fr-FR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𝑬𝒙𝒕</m:t>
                          </m:r>
                          <m:r>
                            <a:rPr lang="fr-FR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𝒓𝒊𝒆𝒖𝒓</m:t>
                          </m:r>
                        </m:sub>
                      </m:sSub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F4ADF9-A2D8-43D7-9BEC-47C873C92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45" y="410344"/>
                <a:ext cx="582078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3DA53E-D122-4004-A91E-AD9EE936971D}"/>
                  </a:ext>
                </a:extLst>
              </p:cNvPr>
              <p:cNvSpPr txBox="1"/>
              <p:nvPr/>
            </p:nvSpPr>
            <p:spPr>
              <a:xfrm>
                <a:off x="3105092" y="1452470"/>
                <a:ext cx="3273287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𝚫</m:t>
                      </m:r>
                      <m:sSub>
                        <m:sSubPr>
                          <m:ctrlPr>
                            <a:rPr kumimoji="0" lang="fr-F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𝚺</m:t>
                          </m:r>
                        </m:sub>
                      </m:sSub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=−</m:t>
                      </m:r>
                      <m:r>
                        <a:rPr kumimoji="0" lang="fr-F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𝚫</m:t>
                      </m:r>
                      <m:sSub>
                        <m:sSubPr>
                          <m:ctrlPr>
                            <a:rPr kumimoji="0" lang="fr-F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𝑬𝒙𝒕</m:t>
                          </m:r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𝒓𝒊𝒆𝒖𝒓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3DA53E-D122-4004-A91E-AD9EE9369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092" y="1452470"/>
                <a:ext cx="327328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70868D-652B-46A5-9828-3EDA7F228796}"/>
              </a:ext>
            </a:extLst>
          </p:cNvPr>
          <p:cNvSpPr txBox="1"/>
          <p:nvPr/>
        </p:nvSpPr>
        <p:spPr>
          <a:xfrm>
            <a:off x="813468" y="1514025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Soit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C0360-1FD7-4794-9F9E-4082854FE107}"/>
                  </a:ext>
                </a:extLst>
              </p:cNvPr>
              <p:cNvSpPr txBox="1"/>
              <p:nvPr/>
            </p:nvSpPr>
            <p:spPr>
              <a:xfrm>
                <a:off x="813468" y="2613392"/>
                <a:ext cx="743447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kumimoji="0" lang="fr-FR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fr-FR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kumimoji="0" lang="fr-FR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sub>
                    </m:sSub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dirty="0"/>
                  <a:t> Le système reçoit de l’énergie de la part de l’extérieur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kumimoji="0" lang="fr-FR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fr-FR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kumimoji="0" lang="fr-FR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sub>
                    </m:sSub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dirty="0"/>
                  <a:t> Le système cède de l’énergie à l’extérieur.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fr-FR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C0360-1FD7-4794-9F9E-4082854FE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68" y="2613392"/>
                <a:ext cx="7434470" cy="1631216"/>
              </a:xfrm>
              <a:prstGeom prst="rect">
                <a:avLst/>
              </a:prstGeom>
              <a:blipFill>
                <a:blip r:embed="rId4"/>
                <a:stretch>
                  <a:fillRect l="-738" t="-22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val 1">
            <a:extLst>
              <a:ext uri="{FF2B5EF4-FFF2-40B4-BE49-F238E27FC236}">
                <a16:creationId xmlns:a16="http://schemas.microsoft.com/office/drawing/2014/main" id="{48234208-F2C7-4FA4-B16B-00EEAC86D458}"/>
              </a:ext>
            </a:extLst>
          </p:cNvPr>
          <p:cNvSpPr/>
          <p:nvPr/>
        </p:nvSpPr>
        <p:spPr>
          <a:xfrm rot="3781128">
            <a:off x="2971788" y="-336236"/>
            <a:ext cx="2915478" cy="53642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TextBox 3">
            <a:extLst>
              <a:ext uri="{FF2B5EF4-FFF2-40B4-BE49-F238E27FC236}">
                <a16:creationId xmlns:a16="http://schemas.microsoft.com/office/drawing/2014/main" id="{B364CBE8-0953-40A6-8420-A8D58E8B0EC2}"/>
              </a:ext>
            </a:extLst>
          </p:cNvPr>
          <p:cNvSpPr txBox="1"/>
          <p:nvPr/>
        </p:nvSpPr>
        <p:spPr>
          <a:xfrm>
            <a:off x="7365156" y="2182946"/>
            <a:ext cx="1783079" cy="574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Extérieur</a:t>
            </a:r>
          </a:p>
        </p:txBody>
      </p:sp>
      <p:sp>
        <p:nvSpPr>
          <p:cNvPr id="188" name="Arc 4">
            <a:extLst>
              <a:ext uri="{FF2B5EF4-FFF2-40B4-BE49-F238E27FC236}">
                <a16:creationId xmlns:a16="http://schemas.microsoft.com/office/drawing/2014/main" id="{38F6851B-0477-48B0-B073-9762F2948678}"/>
              </a:ext>
            </a:extLst>
          </p:cNvPr>
          <p:cNvSpPr/>
          <p:nvPr/>
        </p:nvSpPr>
        <p:spPr>
          <a:xfrm rot="19508501">
            <a:off x="5524028" y="878701"/>
            <a:ext cx="1793463" cy="742122"/>
          </a:xfrm>
          <a:prstGeom prst="arc">
            <a:avLst>
              <a:gd name="adj1" fmla="val 15493804"/>
              <a:gd name="adj2" fmla="val 21590023"/>
            </a:avLst>
          </a:prstGeom>
          <a:ln w="57150">
            <a:solidFill>
              <a:srgbClr val="0070C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TextBox 5">
            <a:extLst>
              <a:ext uri="{FF2B5EF4-FFF2-40B4-BE49-F238E27FC236}">
                <a16:creationId xmlns:a16="http://schemas.microsoft.com/office/drawing/2014/main" id="{C3781F02-5FA9-4F37-8DE4-34E6F418082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78441" y="341607"/>
            <a:ext cx="4008020" cy="830997"/>
          </a:xfrm>
          <a:prstGeom prst="rect">
            <a:avLst/>
          </a:prstGeom>
          <a:blipFill>
            <a:blip r:embed="rId2"/>
            <a:stretch>
              <a:fillRect l="-1357" t="-3521" r="-1207"/>
            </a:stretch>
          </a:blipFill>
          <a:ln w="38100">
            <a:solidFill>
              <a:srgbClr val="0070C0"/>
            </a:solidFill>
          </a:ln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90" name="TextBox 6">
            <a:extLst>
              <a:ext uri="{FF2B5EF4-FFF2-40B4-BE49-F238E27FC236}">
                <a16:creationId xmlns:a16="http://schemas.microsoft.com/office/drawing/2014/main" id="{7045B9BF-D1B7-4658-B8EF-F8CD2C87F8C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07019" y="4330090"/>
            <a:ext cx="4111318" cy="830997"/>
          </a:xfrm>
          <a:prstGeom prst="rect">
            <a:avLst/>
          </a:prstGeom>
          <a:blipFill>
            <a:blip r:embed="rId3"/>
            <a:stretch>
              <a:fillRect l="-1471" t="-3497" r="-1176" b="-4196"/>
            </a:stretch>
          </a:blipFill>
          <a:ln w="38100">
            <a:solidFill>
              <a:srgbClr val="FF0000"/>
            </a:solidFill>
          </a:ln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91" name="Arc 7">
            <a:extLst>
              <a:ext uri="{FF2B5EF4-FFF2-40B4-BE49-F238E27FC236}">
                <a16:creationId xmlns:a16="http://schemas.microsoft.com/office/drawing/2014/main" id="{741E8872-B319-46F4-A7FA-71F7AD28CBEA}"/>
              </a:ext>
            </a:extLst>
          </p:cNvPr>
          <p:cNvSpPr/>
          <p:nvPr/>
        </p:nvSpPr>
        <p:spPr>
          <a:xfrm rot="5836326">
            <a:off x="3587011" y="3524065"/>
            <a:ext cx="1793463" cy="742122"/>
          </a:xfrm>
          <a:prstGeom prst="arc">
            <a:avLst>
              <a:gd name="adj1" fmla="val 12341806"/>
              <a:gd name="adj2" fmla="val 19130349"/>
            </a:avLst>
          </a:prstGeom>
          <a:ln w="571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TextBox 2">
            <a:extLst>
              <a:ext uri="{FF2B5EF4-FFF2-40B4-BE49-F238E27FC236}">
                <a16:creationId xmlns:a16="http://schemas.microsoft.com/office/drawing/2014/main" id="{EB161E41-EF84-409A-BE19-BB3F1DF43E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49385" y="1787632"/>
            <a:ext cx="1937903" cy="584775"/>
          </a:xfrm>
          <a:prstGeom prst="rect">
            <a:avLst/>
          </a:prstGeom>
          <a:blipFill>
            <a:blip r:embed="rId4"/>
            <a:stretch>
              <a:fillRect l="-7862" t="-12500" b="-34375"/>
            </a:stretch>
          </a:blipFill>
        </p:spPr>
        <p:txBody>
          <a:bodyPr/>
          <a:lstStyle/>
          <a:p>
            <a:r>
              <a:rPr lang="fr-FR" dirty="0">
                <a:noFill/>
              </a:rPr>
              <a:t> </a:t>
            </a:r>
          </a:p>
        </p:txBody>
      </p:sp>
      <p:sp>
        <p:nvSpPr>
          <p:cNvPr id="193" name="TextBox 11">
            <a:extLst>
              <a:ext uri="{FF2B5EF4-FFF2-40B4-BE49-F238E27FC236}">
                <a16:creationId xmlns:a16="http://schemas.microsoft.com/office/drawing/2014/main" id="{21EE3389-CBA2-46EC-A14C-1A441D534DD0}"/>
              </a:ext>
            </a:extLst>
          </p:cNvPr>
          <p:cNvSpPr txBox="1"/>
          <p:nvPr/>
        </p:nvSpPr>
        <p:spPr>
          <a:xfrm>
            <a:off x="4343917" y="5501096"/>
            <a:ext cx="7608374" cy="120032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latin typeface="MV Boli" panose="02000500030200090000" pitchFamily="2" charset="0"/>
                <a:cs typeface="MV Boli" panose="02000500030200090000" pitchFamily="2" charset="0"/>
              </a:rPr>
              <a:t>L’énergie est additive (extensive) et est conservée.</a:t>
            </a:r>
          </a:p>
          <a:p>
            <a:pPr algn="just"/>
            <a:r>
              <a:rPr lang="fr-FR" sz="2400" b="1" dirty="0">
                <a:latin typeface="MV Boli" panose="02000500030200090000" pitchFamily="2" charset="0"/>
                <a:cs typeface="MV Boli" panose="02000500030200090000" pitchFamily="2" charset="0"/>
              </a:rPr>
              <a:t>Elle ne peut être ni créée ni détruite. Elle est simplement échangée!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7E209A-DE4F-42F8-A7DD-630D062213EC}"/>
                  </a:ext>
                </a:extLst>
              </p:cNvPr>
              <p:cNvSpPr txBox="1"/>
              <p:nvPr/>
            </p:nvSpPr>
            <p:spPr>
              <a:xfrm>
                <a:off x="6718852" y="4147629"/>
                <a:ext cx="2429383" cy="4924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l-G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7E209A-DE4F-42F8-A7DD-630D06221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852" y="4147629"/>
                <a:ext cx="242938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39E6E93A-3888-4162-B975-6645BF259E88}"/>
                  </a:ext>
                </a:extLst>
              </p:cNvPr>
              <p:cNvSpPr txBox="1"/>
              <p:nvPr/>
            </p:nvSpPr>
            <p:spPr>
              <a:xfrm>
                <a:off x="7589535" y="3055690"/>
                <a:ext cx="2996269" cy="4924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l-G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𝑬𝒙𝒕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39E6E93A-3888-4162-B975-6645BF259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35" y="3055690"/>
                <a:ext cx="299626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DD73D2-9609-453F-9BC3-85B1AC102C2D}"/>
                  </a:ext>
                </a:extLst>
              </p:cNvPr>
              <p:cNvSpPr txBox="1"/>
              <p:nvPr/>
            </p:nvSpPr>
            <p:spPr>
              <a:xfrm>
                <a:off x="2928730" y="367075"/>
                <a:ext cx="2429383" cy="4924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l-GR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DD73D2-9609-453F-9BC3-85B1AC102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730" y="367075"/>
                <a:ext cx="242938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B664BF-AFAB-4AEB-9484-FAE68ECFFE9D}"/>
                  </a:ext>
                </a:extLst>
              </p:cNvPr>
              <p:cNvSpPr txBox="1"/>
              <p:nvPr/>
            </p:nvSpPr>
            <p:spPr>
              <a:xfrm>
                <a:off x="487939" y="1297873"/>
                <a:ext cx="850789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fr-FR" sz="2400" dirty="0"/>
                  <a:t> et </a:t>
                </a:r>
                <a14:m>
                  <m:oMath xmlns:m="http://schemas.openxmlformats.org/officeDocument/2006/math">
                    <m:r>
                      <a:rPr lang="fr-FR" sz="2400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fr-FR" sz="2400" dirty="0"/>
                  <a:t> sont algébriques.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fr-FR" sz="24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fr-FR" sz="2400" dirty="0"/>
                  <a:t>Ils sont comptés positivement </a:t>
                </a:r>
                <a:r>
                  <a:rPr lang="fr-FR" sz="2400" b="1" u="sng" dirty="0"/>
                  <a:t>si</a:t>
                </a:r>
                <a:r>
                  <a:rPr lang="fr-FR" sz="2400" dirty="0"/>
                  <a:t> ils sont reçus par le système.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B664BF-AFAB-4AEB-9484-FAE68ECFF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39" y="1297873"/>
                <a:ext cx="8507896" cy="1200329"/>
              </a:xfrm>
              <a:prstGeom prst="rect">
                <a:avLst/>
              </a:prstGeom>
              <a:blipFill>
                <a:blip r:embed="rId3"/>
                <a:stretch>
                  <a:fillRect l="-931" t="-4061" b="-106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B239420-44C2-40AB-BC94-9EB005EF2824}"/>
                  </a:ext>
                </a:extLst>
              </p:cNvPr>
              <p:cNvSpPr txBox="1"/>
              <p:nvPr/>
            </p:nvSpPr>
            <p:spPr>
              <a:xfrm>
                <a:off x="487939" y="3429000"/>
                <a:ext cx="10641496" cy="24674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fr-FR" sz="2000" b="0" i="0" u="none" strike="noStrike" baseline="0" dirty="0">
                    <a:latin typeface="TimesNewRoman"/>
                  </a:rPr>
                  <a:t>Si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, le système reçoit effectivement du travail de l’extérieur.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fr-FR" sz="2000" b="0" i="0" u="none" strike="noStrike" baseline="0" dirty="0">
                    <a:latin typeface="TimesNewRoman"/>
                  </a:rPr>
                  <a:t>Si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, le système fournit effectivement du travail à l’extérieur (moteur par exemple).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fr-FR" sz="2000" b="0" i="0" u="none" strike="noStrike" baseline="0" dirty="0">
                    <a:latin typeface="TimesNewRoman"/>
                  </a:rPr>
                  <a:t>Si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, le système reçoit effectivement un transfert thermique de l’extérieur (ou de la chaleur).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fr-FR" sz="2000" b="0" i="0" u="none" strike="noStrike" baseline="0" dirty="0">
                    <a:latin typeface="TimesNewRoman"/>
                  </a:rPr>
                  <a:t>Si </a:t>
                </a:r>
                <a:r>
                  <a:rPr lang="fr-FR" sz="2400" b="1" i="1" u="none" strike="noStrike" baseline="0" dirty="0">
                    <a:latin typeface="TimesNewRoman,Italic"/>
                  </a:rPr>
                  <a:t>Q </a:t>
                </a:r>
                <a:r>
                  <a:rPr lang="fr-FR" sz="2400" b="1" i="0" u="none" strike="noStrike" baseline="0" dirty="0">
                    <a:latin typeface="TimesNewRoman"/>
                  </a:rPr>
                  <a:t>&lt; 0</a:t>
                </a:r>
                <a:r>
                  <a:rPr lang="fr-FR" sz="2000" b="0" i="0" u="none" strike="noStrike" baseline="0" dirty="0">
                    <a:latin typeface="TimesNewRoman"/>
                  </a:rPr>
                  <a:t>, le système fournit effectivement un transfert thermique à l’extérieur (ou de la chaleur).</a:t>
                </a:r>
                <a:endParaRPr lang="fr-FR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B239420-44C2-40AB-BC94-9EB005EF2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39" y="3429000"/>
                <a:ext cx="10641496" cy="2467407"/>
              </a:xfrm>
              <a:prstGeom prst="rect">
                <a:avLst/>
              </a:prstGeom>
              <a:blipFill>
                <a:blip r:embed="rId4"/>
                <a:stretch>
                  <a:fillRect l="-515" r="-458" b="-4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5">
            <a:extLst>
              <a:ext uri="{FF2B5EF4-FFF2-40B4-BE49-F238E27FC236}">
                <a16:creationId xmlns:a16="http://schemas.microsoft.com/office/drawing/2014/main" id="{E9E207D1-5BF7-4CAB-96AB-9C9356523C47}"/>
              </a:ext>
            </a:extLst>
          </p:cNvPr>
          <p:cNvSpPr txBox="1"/>
          <p:nvPr/>
        </p:nvSpPr>
        <p:spPr>
          <a:xfrm>
            <a:off x="355755" y="222674"/>
            <a:ext cx="5034280" cy="44704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1.5 Exemples de transfert d’énergie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B74D4-F54A-41BE-A3B8-71261F34C078}"/>
              </a:ext>
            </a:extLst>
          </p:cNvPr>
          <p:cNvSpPr txBox="1"/>
          <p:nvPr/>
        </p:nvSpPr>
        <p:spPr>
          <a:xfrm>
            <a:off x="355755" y="848140"/>
            <a:ext cx="3145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Transfert mécanique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7AE1B9-D445-45CA-98FB-990A70DD27A9}"/>
                  </a:ext>
                </a:extLst>
              </p:cNvPr>
              <p:cNvSpPr txBox="1"/>
              <p:nvPr/>
            </p:nvSpPr>
            <p:spPr>
              <a:xfrm>
                <a:off x="355756" y="1488231"/>
                <a:ext cx="11011436" cy="4054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Ce transfert se manifeste macroscopiquement 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Déformation du système : Action des forces de pression qui se manifeste par une variation de volume. Exemple : gaz dans un piston.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fr-FR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Communication avec l’extérieur d’autres forme de travaux :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fr-FR" dirty="0"/>
              </a:p>
              <a:p>
                <a:pPr marL="2571750" lvl="5" indent="-285750">
                  <a:buFont typeface="Wingdings" panose="05000000000000000000" pitchFamily="2" charset="2"/>
                  <a:buChar char="ü"/>
                </a:pPr>
                <a:r>
                  <a:rPr lang="fr-FR" dirty="0"/>
                  <a:t>Mécanique à travers un arbre entrainé en rotation</a:t>
                </a:r>
              </a:p>
              <a:p>
                <a:pPr marL="2571750" lvl="5" indent="-285750">
                  <a:buFont typeface="Wingdings" panose="05000000000000000000" pitchFamily="2" charset="2"/>
                  <a:buChar char="ü"/>
                </a:pPr>
                <a:endParaRPr lang="fr-FR" dirty="0"/>
              </a:p>
              <a:p>
                <a:pPr marL="2571750" lvl="5" indent="-285750">
                  <a:buFont typeface="Wingdings" panose="05000000000000000000" pitchFamily="2" charset="2"/>
                  <a:buChar char="ü"/>
                </a:pPr>
                <a:r>
                  <a:rPr lang="fr-FR" dirty="0"/>
                  <a:t>Électrique </a:t>
                </a:r>
                <a:r>
                  <a:rPr lang="fr-FR" dirty="0" err="1"/>
                  <a:t>àtravers</a:t>
                </a:r>
                <a:r>
                  <a:rPr lang="fr-FR" dirty="0"/>
                  <a:t> un dipôle électrocinétique (résistance par </a:t>
                </a:r>
                <a:r>
                  <a:rPr lang="fr-FR" dirty="0" err="1"/>
                  <a:t>exeple</a:t>
                </a:r>
                <a:r>
                  <a:rPr lang="fr-FR" dirty="0"/>
                  <a:t>).</a:t>
                </a:r>
              </a:p>
              <a:p>
                <a:pPr marL="2571750" lvl="5" indent="-285750">
                  <a:buFont typeface="Arial" panose="020B0604020202020204" pitchFamily="34" charset="0"/>
                  <a:buChar char="•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Ces formes là correspondent à un déplacement macroscopique mesurable. On peut les calculer en calculant le travail d’une forme. Noté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fr-FR" dirty="0"/>
                  <a:t>.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7AE1B9-D445-45CA-98FB-990A70DD2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6" y="1488231"/>
                <a:ext cx="11011436" cy="4054123"/>
              </a:xfrm>
              <a:prstGeom prst="rect">
                <a:avLst/>
              </a:prstGeom>
              <a:blipFill>
                <a:blip r:embed="rId2"/>
                <a:stretch>
                  <a:fillRect l="-332" t="-7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4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DC1975-28C5-42CC-8E90-4D1EAD1E43D9}"/>
              </a:ext>
            </a:extLst>
          </p:cNvPr>
          <p:cNvSpPr txBox="1"/>
          <p:nvPr/>
        </p:nvSpPr>
        <p:spPr>
          <a:xfrm>
            <a:off x="245464" y="53243"/>
            <a:ext cx="5810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Transfert thermique (échange de chaleur)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40B7E-42F6-4029-A9E0-47EE2991881D}"/>
              </a:ext>
            </a:extLst>
          </p:cNvPr>
          <p:cNvSpPr txBox="1"/>
          <p:nvPr/>
        </p:nvSpPr>
        <p:spPr>
          <a:xfrm>
            <a:off x="477078" y="598579"/>
            <a:ext cx="11237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/>
              <a:t>Ce transfert thermique apparait chaque fois que la paroi limitant le système est perméable à la chaleur. Il y a contact thermique entre le système et le milieu extérieur.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1E745B-BAF7-49DC-B98D-15E74CC15859}"/>
              </a:ext>
            </a:extLst>
          </p:cNvPr>
          <p:cNvSpPr/>
          <p:nvPr/>
        </p:nvSpPr>
        <p:spPr>
          <a:xfrm rot="19182033">
            <a:off x="8480364" y="1526039"/>
            <a:ext cx="1762540" cy="1099931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80AD5-5943-4043-8BF6-759370B50368}"/>
              </a:ext>
            </a:extLst>
          </p:cNvPr>
          <p:cNvSpPr txBox="1"/>
          <p:nvPr/>
        </p:nvSpPr>
        <p:spPr>
          <a:xfrm>
            <a:off x="8823698" y="1806152"/>
            <a:ext cx="1075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Système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EDAA8-7DB9-4F06-9759-6C0A71A0E61D}"/>
              </a:ext>
            </a:extLst>
          </p:cNvPr>
          <p:cNvSpPr txBox="1"/>
          <p:nvPr/>
        </p:nvSpPr>
        <p:spPr>
          <a:xfrm>
            <a:off x="10712133" y="1756629"/>
            <a:ext cx="1156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extérieur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FC921DF2-3F58-402E-96EB-089898FBCD3C}"/>
              </a:ext>
            </a:extLst>
          </p:cNvPr>
          <p:cNvSpPr/>
          <p:nvPr/>
        </p:nvSpPr>
        <p:spPr>
          <a:xfrm rot="19744081">
            <a:off x="9422295" y="1585674"/>
            <a:ext cx="1378227" cy="980661"/>
          </a:xfrm>
          <a:prstGeom prst="arc">
            <a:avLst>
              <a:gd name="adj1" fmla="val 14734180"/>
              <a:gd name="adj2" fmla="val 20330173"/>
            </a:avLst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C82813-375C-4FF0-AEDE-F30689D4C798}"/>
                  </a:ext>
                </a:extLst>
              </p:cNvPr>
              <p:cNvSpPr txBox="1"/>
              <p:nvPr/>
            </p:nvSpPr>
            <p:spPr>
              <a:xfrm>
                <a:off x="10071181" y="1075632"/>
                <a:ext cx="479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C82813-375C-4FF0-AEDE-F30689D4C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81" y="1075632"/>
                <a:ext cx="479618" cy="461665"/>
              </a:xfrm>
              <a:prstGeom prst="rect">
                <a:avLst/>
              </a:prstGeom>
              <a:blipFill>
                <a:blip r:embed="rId2"/>
                <a:stretch>
                  <a:fillRect l="-1266" r="-1266"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A455B3-5F7A-42A0-99B7-F9D0C600DFBA}"/>
                  </a:ext>
                </a:extLst>
              </p:cNvPr>
              <p:cNvSpPr txBox="1"/>
              <p:nvPr/>
            </p:nvSpPr>
            <p:spPr>
              <a:xfrm>
                <a:off x="8823698" y="2163789"/>
                <a:ext cx="586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A455B3-5F7A-42A0-99B7-F9D0C600D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698" y="2163789"/>
                <a:ext cx="586956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A1ACEA-5334-4BCE-A5CB-3474117AA638}"/>
                  </a:ext>
                </a:extLst>
              </p:cNvPr>
              <p:cNvSpPr txBox="1"/>
              <p:nvPr/>
            </p:nvSpPr>
            <p:spPr>
              <a:xfrm>
                <a:off x="10652122" y="2265632"/>
                <a:ext cx="8065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A1ACEA-5334-4BCE-A5CB-3474117AA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122" y="2265632"/>
                <a:ext cx="806567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67210-1FEE-4823-97F2-CF6712C1EE01}"/>
                  </a:ext>
                </a:extLst>
              </p:cNvPr>
              <p:cNvSpPr txBox="1"/>
              <p:nvPr/>
            </p:nvSpPr>
            <p:spPr>
              <a:xfrm>
                <a:off x="322948" y="1628705"/>
                <a:ext cx="7849522" cy="4514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L’agitation thermique se communique entre le système est le milieu extérieur de proche en proche par chocs aux molécules.  On dit qu’il y a transfert de chaleur.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Le système reçoit algébriquement le transfert thermique </a:t>
                </a:r>
                <a14:m>
                  <m:oMath xmlns:m="http://schemas.openxmlformats.org/officeDocument/2006/math">
                    <m:r>
                      <a:rPr lang="fr-FR" sz="2800" b="1" i="1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fr-FR" sz="2000" dirty="0"/>
                  <a:t> de la part de l’extérieur.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Il existe différent modes de transferts thermiques 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Conduction: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0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Convection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0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Rayonnement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67210-1FEE-4823-97F2-CF6712C1E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48" y="1628705"/>
                <a:ext cx="7849522" cy="4514377"/>
              </a:xfrm>
              <a:prstGeom prst="rect">
                <a:avLst/>
              </a:prstGeom>
              <a:blipFill>
                <a:blip r:embed="rId5"/>
                <a:stretch>
                  <a:fillRect l="-699" t="-675" b="-13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F642EE-F468-4C76-BD18-8AF36B72D042}"/>
              </a:ext>
            </a:extLst>
          </p:cNvPr>
          <p:cNvSpPr txBox="1"/>
          <p:nvPr/>
        </p:nvSpPr>
        <p:spPr>
          <a:xfrm>
            <a:off x="371060" y="274480"/>
            <a:ext cx="109993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2400" b="1" i="0" u="sng" strike="noStrike" baseline="0" dirty="0">
                <a:solidFill>
                  <a:srgbClr val="000000"/>
                </a:solidFill>
                <a:latin typeface="Lucida Handwriting" panose="03010101010101010101" pitchFamily="66" charset="0"/>
              </a:rPr>
              <a:t>Conduction thermique :</a:t>
            </a:r>
          </a:p>
          <a:p>
            <a:pPr algn="just"/>
            <a:r>
              <a:rPr lang="fr-FR" sz="2000" b="1" i="0" u="none" strike="noStrike" baseline="0" dirty="0">
                <a:latin typeface="TimesNewRoman,Bold"/>
              </a:rPr>
              <a:t>La conduction thermique est un transport (ou transfert) d’énergie à travers un milieu matériel </a:t>
            </a:r>
            <a:r>
              <a:rPr lang="fr-FR" sz="2000" b="0" i="0" u="none" strike="noStrike" baseline="0" dirty="0">
                <a:latin typeface="TimesNewRoman"/>
              </a:rPr>
              <a:t>(solide ou fluide) </a:t>
            </a:r>
            <a:r>
              <a:rPr lang="fr-FR" sz="2000" b="1" i="0" u="none" strike="noStrike" baseline="0" dirty="0">
                <a:latin typeface="TimesNewRoman,Bold"/>
              </a:rPr>
              <a:t>sans déplacement macroscopique de matière</a:t>
            </a:r>
            <a:r>
              <a:rPr lang="fr-FR" sz="2000" b="0" i="0" u="none" strike="noStrike" baseline="0" dirty="0">
                <a:latin typeface="TimesNewRoman"/>
              </a:rPr>
              <a:t>.</a:t>
            </a:r>
            <a:endParaRPr lang="fr-FR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46FB9-D5A0-44F0-A1B9-FD1F10213CA2}"/>
              </a:ext>
            </a:extLst>
          </p:cNvPr>
          <p:cNvSpPr/>
          <p:nvPr/>
        </p:nvSpPr>
        <p:spPr>
          <a:xfrm>
            <a:off x="616226" y="1510748"/>
            <a:ext cx="430695" cy="2756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F7CF1D-B34B-4354-8944-98BEAE49B2E3}"/>
              </a:ext>
            </a:extLst>
          </p:cNvPr>
          <p:cNvSpPr/>
          <p:nvPr/>
        </p:nvSpPr>
        <p:spPr>
          <a:xfrm>
            <a:off x="2378765" y="1510748"/>
            <a:ext cx="430695" cy="2756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C6A0B7-5731-4C9F-AE77-675F704C6A18}"/>
              </a:ext>
            </a:extLst>
          </p:cNvPr>
          <p:cNvSpPr/>
          <p:nvPr/>
        </p:nvSpPr>
        <p:spPr>
          <a:xfrm rot="5400000">
            <a:off x="1549531" y="3227879"/>
            <a:ext cx="326623" cy="2193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96E1B8-22E7-4AA9-9B89-0A293AE66261}"/>
              </a:ext>
            </a:extLst>
          </p:cNvPr>
          <p:cNvSpPr/>
          <p:nvPr/>
        </p:nvSpPr>
        <p:spPr>
          <a:xfrm rot="5400000">
            <a:off x="1549531" y="577443"/>
            <a:ext cx="326623" cy="2193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19353-F7B7-4FFA-B2E2-628039DA333D}"/>
              </a:ext>
            </a:extLst>
          </p:cNvPr>
          <p:cNvSpPr/>
          <p:nvPr/>
        </p:nvSpPr>
        <p:spPr>
          <a:xfrm>
            <a:off x="8600663" y="1510748"/>
            <a:ext cx="430695" cy="2756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117EAC-6743-4338-A2DF-D0B68A37F82D}"/>
              </a:ext>
            </a:extLst>
          </p:cNvPr>
          <p:cNvSpPr/>
          <p:nvPr/>
        </p:nvSpPr>
        <p:spPr>
          <a:xfrm>
            <a:off x="10363202" y="1510748"/>
            <a:ext cx="430695" cy="2756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8FFC95-AD8C-4018-B2B8-694EE30CFF15}"/>
              </a:ext>
            </a:extLst>
          </p:cNvPr>
          <p:cNvSpPr/>
          <p:nvPr/>
        </p:nvSpPr>
        <p:spPr>
          <a:xfrm rot="5400000">
            <a:off x="9533968" y="3227879"/>
            <a:ext cx="326623" cy="2193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15054B-4D23-403D-90D1-5B1F82CCE178}"/>
              </a:ext>
            </a:extLst>
          </p:cNvPr>
          <p:cNvSpPr/>
          <p:nvPr/>
        </p:nvSpPr>
        <p:spPr>
          <a:xfrm rot="5400000">
            <a:off x="9533968" y="577443"/>
            <a:ext cx="326623" cy="2193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96455F-D063-4C46-9C7B-C42397EB3475}"/>
              </a:ext>
            </a:extLst>
          </p:cNvPr>
          <p:cNvCxnSpPr/>
          <p:nvPr/>
        </p:nvCxnSpPr>
        <p:spPr>
          <a:xfrm flipH="1" flipV="1">
            <a:off x="2517913" y="3882887"/>
            <a:ext cx="291548" cy="18685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F73DE90-FCB4-4B68-A5E6-BF7CF065251E}"/>
              </a:ext>
            </a:extLst>
          </p:cNvPr>
          <p:cNvSpPr txBox="1"/>
          <p:nvPr/>
        </p:nvSpPr>
        <p:spPr>
          <a:xfrm>
            <a:off x="464715" y="5753172"/>
            <a:ext cx="468948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000" dirty="0"/>
              <a:t>Conducteur thermique : paroi diathermane</a:t>
            </a:r>
          </a:p>
          <a:p>
            <a:pPr algn="ctr"/>
            <a:r>
              <a:rPr lang="fr-FR" sz="2000" dirty="0"/>
              <a:t>Perméable à la chaleur</a:t>
            </a:r>
          </a:p>
          <a:p>
            <a:pPr algn="ctr"/>
            <a:r>
              <a:rPr lang="fr-FR" sz="2000" dirty="0"/>
              <a:t>Il y a contact thermique avec l’extérieur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A3FDF43-A599-4E8D-B907-70FFBF7DDB49}"/>
              </a:ext>
            </a:extLst>
          </p:cNvPr>
          <p:cNvSpPr/>
          <p:nvPr/>
        </p:nvSpPr>
        <p:spPr>
          <a:xfrm rot="20477469">
            <a:off x="1461868" y="2367308"/>
            <a:ext cx="2112089" cy="1463497"/>
          </a:xfrm>
          <a:prstGeom prst="arc">
            <a:avLst>
              <a:gd name="adj1" fmla="val 14734180"/>
              <a:gd name="adj2" fmla="val 20330173"/>
            </a:avLst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0B0B0-94E7-4747-BE7D-281BD96B9A0B}"/>
                  </a:ext>
                </a:extLst>
              </p:cNvPr>
              <p:cNvSpPr txBox="1"/>
              <p:nvPr/>
            </p:nvSpPr>
            <p:spPr>
              <a:xfrm>
                <a:off x="2809460" y="1830531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fr-FR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fr-FR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0B0B0-94E7-4747-BE7D-281BD96B9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460" y="1830531"/>
                <a:ext cx="1064137" cy="461665"/>
              </a:xfrm>
              <a:prstGeom prst="rect">
                <a:avLst/>
              </a:prstGeom>
              <a:blipFill>
                <a:blip r:embed="rId2"/>
                <a:stretch>
                  <a:fillRect l="-575"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CFFF5E-9944-49A7-AA60-5F60E3176411}"/>
              </a:ext>
            </a:extLst>
          </p:cNvPr>
          <p:cNvCxnSpPr>
            <a:cxnSpLocks/>
          </p:cNvCxnSpPr>
          <p:nvPr/>
        </p:nvCxnSpPr>
        <p:spPr>
          <a:xfrm flipV="1">
            <a:off x="7984435" y="3429000"/>
            <a:ext cx="775252" cy="19932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491A7F5-F4CD-45B8-A63F-D0A25888AC7E}"/>
              </a:ext>
            </a:extLst>
          </p:cNvPr>
          <p:cNvSpPr txBox="1"/>
          <p:nvPr/>
        </p:nvSpPr>
        <p:spPr>
          <a:xfrm>
            <a:off x="6225165" y="5437663"/>
            <a:ext cx="527436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Isolant thermique : paroi athermane</a:t>
            </a:r>
          </a:p>
          <a:p>
            <a:pPr algn="ctr"/>
            <a:r>
              <a:rPr lang="fr-FR" sz="2000" dirty="0"/>
              <a:t>imperméable à la chaleur</a:t>
            </a:r>
          </a:p>
          <a:p>
            <a:pPr algn="ctr"/>
            <a:r>
              <a:rPr lang="fr-FR" sz="2000" dirty="0"/>
              <a:t>Il n’y a pas de contact thermique avec l’extérieur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6D9C9D0-8389-4135-99A6-71E17D21A6D4}"/>
              </a:ext>
            </a:extLst>
          </p:cNvPr>
          <p:cNvSpPr/>
          <p:nvPr/>
        </p:nvSpPr>
        <p:spPr>
          <a:xfrm rot="885062" flipH="1">
            <a:off x="8060467" y="2517631"/>
            <a:ext cx="1603763" cy="1463497"/>
          </a:xfrm>
          <a:prstGeom prst="arc">
            <a:avLst>
              <a:gd name="adj1" fmla="val 14734180"/>
              <a:gd name="adj2" fmla="val 20330173"/>
            </a:avLst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B50E15-30A8-4066-A6AC-39C969F23A90}"/>
                  </a:ext>
                </a:extLst>
              </p:cNvPr>
              <p:cNvSpPr txBox="1"/>
              <p:nvPr/>
            </p:nvSpPr>
            <p:spPr>
              <a:xfrm>
                <a:off x="7415801" y="2191127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fr-FR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B50E15-30A8-4066-A6AC-39C969F23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01" y="2191127"/>
                <a:ext cx="1064137" cy="461665"/>
              </a:xfrm>
              <a:prstGeom prst="rect">
                <a:avLst/>
              </a:prstGeom>
              <a:blipFill>
                <a:blip r:embed="rId3"/>
                <a:stretch>
                  <a:fillRect l="-575"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78C3E49-7E62-4BB2-8261-759462F3A44F}"/>
              </a:ext>
            </a:extLst>
          </p:cNvPr>
          <p:cNvSpPr txBox="1"/>
          <p:nvPr/>
        </p:nvSpPr>
        <p:spPr>
          <a:xfrm>
            <a:off x="1083061" y="3059557"/>
            <a:ext cx="1075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Système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3877C1-23A6-463E-A151-CEF387FBF177}"/>
              </a:ext>
            </a:extLst>
          </p:cNvPr>
          <p:cNvSpPr txBox="1"/>
          <p:nvPr/>
        </p:nvSpPr>
        <p:spPr>
          <a:xfrm>
            <a:off x="3134503" y="3049324"/>
            <a:ext cx="1156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extérieur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2E0930-E17D-45B1-877A-0637F51457C1}"/>
              </a:ext>
            </a:extLst>
          </p:cNvPr>
          <p:cNvSpPr txBox="1"/>
          <p:nvPr/>
        </p:nvSpPr>
        <p:spPr>
          <a:xfrm>
            <a:off x="9032824" y="2975788"/>
            <a:ext cx="1075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Système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CB73A5-E613-4B95-A4E7-5E46871487A5}"/>
              </a:ext>
            </a:extLst>
          </p:cNvPr>
          <p:cNvSpPr txBox="1"/>
          <p:nvPr/>
        </p:nvSpPr>
        <p:spPr>
          <a:xfrm>
            <a:off x="7047274" y="3133313"/>
            <a:ext cx="1156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extérieur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62D729-39F1-4157-BA96-9EC2C1736C81}"/>
              </a:ext>
            </a:extLst>
          </p:cNvPr>
          <p:cNvSpPr txBox="1"/>
          <p:nvPr/>
        </p:nvSpPr>
        <p:spPr>
          <a:xfrm>
            <a:off x="556590" y="221471"/>
            <a:ext cx="115161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2400" b="1" i="0" u="sng" strike="noStrike" baseline="0" dirty="0">
                <a:solidFill>
                  <a:srgbClr val="000000"/>
                </a:solidFill>
                <a:latin typeface="Lucida Handwriting" panose="03010101010101010101" pitchFamily="66" charset="0"/>
              </a:rPr>
              <a:t>Convection:</a:t>
            </a:r>
          </a:p>
          <a:p>
            <a:pPr algn="l"/>
            <a:r>
              <a:rPr lang="fr-FR" sz="1800" b="1" i="0" u="none" strike="noStrike" baseline="0" dirty="0">
                <a:latin typeface="TimesNewRoman,Bold"/>
              </a:rPr>
              <a:t>La convection est un transport (ou transfert) d’énergie dû à un déplacement de matière.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CD651-78C0-4890-AF9D-61F15F67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93" y="1319709"/>
            <a:ext cx="2796207" cy="2024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8C36D-4532-4E01-A807-60715C80A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07" y="1235048"/>
            <a:ext cx="2796208" cy="196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9183F8-003F-44A5-93EA-AE789E398757}"/>
              </a:ext>
            </a:extLst>
          </p:cNvPr>
          <p:cNvSpPr txBox="1"/>
          <p:nvPr/>
        </p:nvSpPr>
        <p:spPr>
          <a:xfrm>
            <a:off x="1934817" y="3657602"/>
            <a:ext cx="2425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u="none" strike="noStrike" baseline="0" dirty="0">
                <a:latin typeface="TimesNewRoman,Bold"/>
              </a:rPr>
              <a:t>convection naturelle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EE602-59FE-47D9-9876-DB21F02321E2}"/>
              </a:ext>
            </a:extLst>
          </p:cNvPr>
          <p:cNvSpPr txBox="1"/>
          <p:nvPr/>
        </p:nvSpPr>
        <p:spPr>
          <a:xfrm>
            <a:off x="8600661" y="3657602"/>
            <a:ext cx="2040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u="none" strike="noStrike" baseline="0" dirty="0">
                <a:latin typeface="TimesNewRoman,Bold"/>
              </a:rPr>
              <a:t>convection forcée</a:t>
            </a:r>
            <a:endParaRPr lang="fr-FR" dirty="0"/>
          </a:p>
        </p:txBody>
      </p:sp>
      <p:pic>
        <p:nvPicPr>
          <p:cNvPr id="1026" name="Picture 2" descr="Circuit imprimé CVC | Circuit imprimé CVC | Circuit imprimé CVC - Viasion">
            <a:extLst>
              <a:ext uri="{FF2B5EF4-FFF2-40B4-BE49-F238E27FC236}">
                <a16:creationId xmlns:a16="http://schemas.microsoft.com/office/drawing/2014/main" id="{868A0AD4-FEDC-485A-86BF-EB30F30FF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210" y="1108719"/>
            <a:ext cx="4399720" cy="240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6E4B69-4428-46B3-855E-293FD395B6B9}"/>
              </a:ext>
            </a:extLst>
          </p:cNvPr>
          <p:cNvCxnSpPr/>
          <p:nvPr/>
        </p:nvCxnSpPr>
        <p:spPr>
          <a:xfrm>
            <a:off x="6493565" y="1108719"/>
            <a:ext cx="0" cy="29182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FA3C46-F409-4F6C-916F-767C3DFDE344}"/>
              </a:ext>
            </a:extLst>
          </p:cNvPr>
          <p:cNvSpPr txBox="1"/>
          <p:nvPr/>
        </p:nvSpPr>
        <p:spPr>
          <a:xfrm>
            <a:off x="556590" y="4552666"/>
            <a:ext cx="107342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2400" b="1" i="0" u="sng" strike="noStrike" baseline="0" dirty="0">
                <a:solidFill>
                  <a:srgbClr val="000000"/>
                </a:solidFill>
                <a:latin typeface="Lucida Handwriting" panose="03010101010101010101" pitchFamily="66" charset="0"/>
              </a:rPr>
              <a:t>Rayonnement thermique:</a:t>
            </a:r>
          </a:p>
          <a:p>
            <a:pPr algn="l"/>
            <a:r>
              <a:rPr lang="fr-FR" sz="1800" b="1" i="0" u="none" strike="noStrike" baseline="0" dirty="0">
                <a:latin typeface="TimesNewRoman,Bold"/>
              </a:rPr>
              <a:t>Le rayonnement est un transfert d’énergie à travers un milieu transparent ou le vide par l’intermédiaire</a:t>
            </a:r>
          </a:p>
          <a:p>
            <a:pPr algn="l"/>
            <a:r>
              <a:rPr lang="fr-FR" sz="1800" b="1" i="0" u="none" strike="noStrike" baseline="0" dirty="0">
                <a:latin typeface="TimesNewRoman,Bold"/>
              </a:rPr>
              <a:t>d’un champ électromagnétique </a:t>
            </a:r>
            <a:r>
              <a:rPr lang="fr-FR" sz="1800" b="0" i="0" u="none" strike="noStrike" baseline="0" dirty="0">
                <a:latin typeface="TimesNewRoman"/>
              </a:rPr>
              <a:t>(le plus souvent, il s’agit d’un rayonnement infrarouge).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7754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9E4552-1C53-48DE-89FC-B3E70AD0CECE}"/>
                  </a:ext>
                </a:extLst>
              </p:cNvPr>
              <p:cNvSpPr txBox="1"/>
              <p:nvPr/>
            </p:nvSpPr>
            <p:spPr>
              <a:xfrm>
                <a:off x="490330" y="234723"/>
                <a:ext cx="1151613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§"/>
                </a:pPr>
                <a:r>
                  <a:rPr lang="fr-FR" sz="2400" b="1" i="1" u="sng" strike="noStrike" baseline="0" dirty="0">
                    <a:solidFill>
                      <a:srgbClr val="000000"/>
                    </a:solidFill>
                    <a:latin typeface="Lucida Handwriting" panose="03010101010101010101" pitchFamily="66" charset="0"/>
                  </a:rPr>
                  <a:t>Transformation adiabatique:</a:t>
                </a:r>
              </a:p>
              <a:p>
                <a:pPr algn="l"/>
                <a:r>
                  <a:rPr lang="fr-FR" sz="2000" b="1" i="0" u="none" strike="noStrike" baseline="0" dirty="0">
                    <a:latin typeface="TimesNewRoman,Bold"/>
                  </a:rPr>
                  <a:t>Une transformation est </a:t>
                </a:r>
                <a:r>
                  <a:rPr lang="fr-FR" sz="2000" b="1" i="0" u="sng" strike="noStrike" baseline="0" dirty="0">
                    <a:latin typeface="TimesNewRoman,Bold"/>
                  </a:rPr>
                  <a:t>adiabatique</a:t>
                </a:r>
                <a:r>
                  <a:rPr lang="fr-FR" sz="2000" b="1" i="0" u="none" strike="noStrike" baseline="0" dirty="0">
                    <a:latin typeface="TimesNewRoman,Bold"/>
                  </a:rPr>
                  <a:t> s’il n’y a pas de transfert thermique avec l’extérieur :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1" i="0" u="none" strike="noStrike" baseline="0" dirty="0">
                    <a:latin typeface="TimesNewRoman,Bold"/>
                  </a:rPr>
                  <a:t>.</a:t>
                </a:r>
              </a:p>
              <a:p>
                <a:pPr algn="l"/>
                <a:r>
                  <a:rPr lang="fr-FR" sz="2000" b="1" i="0" u="none" strike="noStrike" baseline="0" dirty="0">
                    <a:latin typeface="TimesNewRoman,Bold"/>
                  </a:rPr>
                  <a:t>On dit que le système est calorifugé ou thermiquement isolé de l’extérieur.</a:t>
                </a:r>
                <a:endParaRPr lang="fr-FR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9E4552-1C53-48DE-89FC-B3E70AD0C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0" y="234723"/>
                <a:ext cx="11516139" cy="1077218"/>
              </a:xfrm>
              <a:prstGeom prst="rect">
                <a:avLst/>
              </a:prstGeom>
              <a:blipFill>
                <a:blip r:embed="rId2"/>
                <a:stretch>
                  <a:fillRect l="-688" t="-4545" b="-90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9AB4F5E-19E4-44A1-ABD3-C8A6957E2A63}"/>
              </a:ext>
            </a:extLst>
          </p:cNvPr>
          <p:cNvSpPr txBox="1"/>
          <p:nvPr/>
        </p:nvSpPr>
        <p:spPr>
          <a:xfrm>
            <a:off x="324677" y="2255031"/>
            <a:ext cx="118474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2000" b="1" i="0" u="sng" strike="noStrike" baseline="0" dirty="0">
                <a:latin typeface="Lucida Handwriting" panose="03010101010101010101" pitchFamily="66" charset="0"/>
              </a:rPr>
              <a:t>Important :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fr-FR" sz="2000" b="1" i="0" u="none" strike="noStrike" baseline="0" dirty="0">
                <a:latin typeface="TimesNewRoman,Bold"/>
              </a:rPr>
              <a:t>Pour des </a:t>
            </a:r>
            <a:r>
              <a:rPr lang="fr-FR" sz="2000" b="1" i="0" u="sng" strike="noStrike" baseline="0" dirty="0">
                <a:latin typeface="TimesNewRoman,Bold"/>
              </a:rPr>
              <a:t>transformations rapides</a:t>
            </a:r>
            <a:r>
              <a:rPr lang="fr-FR" sz="2000" b="1" i="0" u="none" strike="noStrike" baseline="0" dirty="0">
                <a:latin typeface="TimesNewRoman,Bold"/>
              </a:rPr>
              <a:t>, on fera </a:t>
            </a:r>
            <a:r>
              <a:rPr lang="fr-FR" sz="2000" b="1" i="0" u="sng" strike="noStrike" baseline="0" dirty="0">
                <a:latin typeface="TimesNewRoman,Bold"/>
              </a:rPr>
              <a:t>très souvent </a:t>
            </a:r>
            <a:r>
              <a:rPr lang="fr-FR" sz="2000" b="1" i="0" u="none" strike="noStrike" baseline="0" dirty="0">
                <a:latin typeface="TimesNewRoman,Bold"/>
              </a:rPr>
              <a:t>l’hypothèse que la transformation est </a:t>
            </a:r>
            <a:r>
              <a:rPr lang="fr-FR" sz="2000" b="1" i="0" u="sng" strike="noStrike" baseline="0" dirty="0">
                <a:latin typeface="TimesNewRoman,Bold"/>
              </a:rPr>
              <a:t>adiabatique</a:t>
            </a:r>
            <a:r>
              <a:rPr lang="fr-FR" sz="2000" b="1" i="0" u="none" strike="noStrike" baseline="0" dirty="0">
                <a:latin typeface="TimesNewRoman,Bold"/>
              </a:rPr>
              <a:t>.</a:t>
            </a:r>
          </a:p>
          <a:p>
            <a:pPr algn="l"/>
            <a:endParaRPr lang="fr-FR" sz="2000" b="1" i="0" u="none" strike="noStrike" baseline="0" dirty="0">
              <a:latin typeface="TimesNewRoman,Bold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fr-FR" sz="2000" b="1" i="0" u="none" strike="noStrike" baseline="0" dirty="0">
                <a:latin typeface="TimesNewRoman,Bold"/>
              </a:rPr>
              <a:t>Par contre, l’équilibre mécanique est souvent très rapide.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BC6A1B-F35F-487B-8138-F86AF4F67689}"/>
                  </a:ext>
                </a:extLst>
              </p:cNvPr>
              <p:cNvSpPr txBox="1"/>
              <p:nvPr/>
            </p:nvSpPr>
            <p:spPr>
              <a:xfrm>
                <a:off x="1722782" y="4090673"/>
                <a:ext cx="9992140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fr-FR" sz="2000" b="0" i="0" u="sng" strike="noStrike" baseline="0" dirty="0">
                    <a:latin typeface="TimesNewRoman"/>
                  </a:rPr>
                  <a:t>Ne pas confondre les deux notions très différentes : </a:t>
                </a:r>
                <a:r>
                  <a:rPr lang="fr-FR" sz="2000" b="1" i="0" u="sng" strike="noStrike" baseline="0" dirty="0">
                    <a:latin typeface="TimesNewRoman"/>
                  </a:rPr>
                  <a:t>isotherme</a:t>
                </a:r>
                <a:r>
                  <a:rPr lang="fr-FR" sz="2000" b="0" i="0" u="sng" strike="noStrike" baseline="0" dirty="0">
                    <a:latin typeface="TimesNewRoman"/>
                  </a:rPr>
                  <a:t> et </a:t>
                </a:r>
                <a:r>
                  <a:rPr lang="fr-FR" sz="2000" b="1" i="0" u="sng" strike="noStrike" baseline="0" dirty="0">
                    <a:latin typeface="TimesNewRoman"/>
                  </a:rPr>
                  <a:t>adiabatique</a:t>
                </a:r>
                <a:r>
                  <a:rPr lang="fr-FR" sz="2000" b="0" i="0" u="none" strike="noStrike" baseline="0" dirty="0">
                    <a:latin typeface="TimesNewRoman"/>
                  </a:rPr>
                  <a:t>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fr-FR" sz="2000" b="1" i="0" u="sng" strike="noStrike" baseline="0" dirty="0">
                    <a:latin typeface="TimesNewRoman,Bold"/>
                  </a:rPr>
                  <a:t>transformation adiabatique </a:t>
                </a:r>
                <a:r>
                  <a:rPr lang="fr-FR" sz="2000" b="0" i="0" u="none" strike="noStrike" baseline="0" dirty="0">
                    <a:latin typeface="TimesNewRoman"/>
                  </a:rPr>
                  <a:t>: pas de transfert thermique avec l’extérieur (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).            La température du système peut varier mais aussi rester constante.</a:t>
                </a:r>
              </a:p>
              <a:p>
                <a:pPr marL="342900" indent="-342900" algn="l">
                  <a:buFontTx/>
                  <a:buChar char="-"/>
                </a:pPr>
                <a:endParaRPr lang="fr-FR" sz="2000" b="0" i="0" u="none" strike="noStrike" baseline="0" dirty="0">
                  <a:latin typeface="TimesNewRoman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fr-FR" sz="2000" b="1" i="0" u="sng" strike="noStrike" baseline="0" dirty="0">
                    <a:latin typeface="TimesNewRoman,Bold"/>
                  </a:rPr>
                  <a:t>transformation isotherme </a:t>
                </a:r>
                <a:r>
                  <a:rPr lang="fr-FR" sz="2000" b="0" i="0" u="sng" strike="noStrike" baseline="0" dirty="0">
                    <a:latin typeface="TimesNewRoman"/>
                  </a:rPr>
                  <a:t>: </a:t>
                </a:r>
                <a:r>
                  <a:rPr lang="fr-FR" sz="2000" b="0" i="0" u="none" strike="noStrike" baseline="0" dirty="0">
                    <a:latin typeface="TimesNewRoman"/>
                  </a:rPr>
                  <a:t>la température du système reste constante. On peut avoir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000" b="1" i="1" u="none" strike="noStrike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 (pas de transfert thermique) ou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 (en contact avec un thermostat par exemple).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BC6A1B-F35F-487B-8138-F86AF4F67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2" y="4090673"/>
                <a:ext cx="9992140" cy="2246769"/>
              </a:xfrm>
              <a:prstGeom prst="rect">
                <a:avLst/>
              </a:prstGeom>
              <a:blipFill>
                <a:blip r:embed="rId3"/>
                <a:stretch>
                  <a:fillRect l="-549" t="-1355" b="-37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75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3">
            <a:extLst>
              <a:ext uri="{FF2B5EF4-FFF2-40B4-BE49-F238E27FC236}">
                <a16:creationId xmlns:a16="http://schemas.microsoft.com/office/drawing/2014/main" id="{2AF4AB56-AD07-4D05-A069-621911EC3948}"/>
              </a:ext>
            </a:extLst>
          </p:cNvPr>
          <p:cNvSpPr txBox="1"/>
          <p:nvPr/>
        </p:nvSpPr>
        <p:spPr>
          <a:xfrm>
            <a:off x="566670" y="167425"/>
            <a:ext cx="4771050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2. Travail des forces de 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20E72-3ECC-428A-9CFD-5F0F476A1567}"/>
              </a:ext>
            </a:extLst>
          </p:cNvPr>
          <p:cNvSpPr txBox="1"/>
          <p:nvPr/>
        </p:nvSpPr>
        <p:spPr>
          <a:xfrm>
            <a:off x="437322" y="914400"/>
            <a:ext cx="11489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/>
              <a:t>En thermodynamique, le transfert mécanique reçu par un fluide est la plupart du temps du travail des forces de pression</a:t>
            </a:r>
          </a:p>
        </p:txBody>
      </p:sp>
      <p:pic>
        <p:nvPicPr>
          <p:cNvPr id="6" name="Picture 6" descr="https://upload.wikimedia.org/wikipedia/commons/thumb/8/8b/Scuderi_Split_Cycle_Engine_-_Cycle.gif/170px-Scuderi_Split_Cycle_Engine_-_Cycle.gif">
            <a:extLst>
              <a:ext uri="{FF2B5EF4-FFF2-40B4-BE49-F238E27FC236}">
                <a16:creationId xmlns:a16="http://schemas.microsoft.com/office/drawing/2014/main" id="{163F0710-C521-4155-89E5-32101ADA25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73352" y="4088563"/>
            <a:ext cx="1761714" cy="2518060"/>
          </a:xfrm>
          <a:prstGeom prst="rect">
            <a:avLst/>
          </a:prstGeom>
          <a:noFill/>
        </p:spPr>
      </p:pic>
      <p:grpSp>
        <p:nvGrpSpPr>
          <p:cNvPr id="7" name="Groupe 17">
            <a:extLst>
              <a:ext uri="{FF2B5EF4-FFF2-40B4-BE49-F238E27FC236}">
                <a16:creationId xmlns:a16="http://schemas.microsoft.com/office/drawing/2014/main" id="{9326E811-7A68-45AA-AF60-9287A8AE954F}"/>
              </a:ext>
            </a:extLst>
          </p:cNvPr>
          <p:cNvGrpSpPr/>
          <p:nvPr/>
        </p:nvGrpSpPr>
        <p:grpSpPr>
          <a:xfrm>
            <a:off x="8524212" y="1473561"/>
            <a:ext cx="1382879" cy="2420234"/>
            <a:chOff x="5653825" y="1276001"/>
            <a:chExt cx="1382879" cy="2420234"/>
          </a:xfrm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32B46611-67A4-4B7A-A9D9-966117B3A4A5}"/>
                </a:ext>
              </a:extLst>
            </p:cNvPr>
            <p:cNvSpPr/>
            <p:nvPr/>
          </p:nvSpPr>
          <p:spPr>
            <a:xfrm>
              <a:off x="5653825" y="1880315"/>
              <a:ext cx="90152" cy="175152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86F9BCE9-4073-4F2E-BB12-96A49B36950C}"/>
                </a:ext>
              </a:extLst>
            </p:cNvPr>
            <p:cNvSpPr/>
            <p:nvPr/>
          </p:nvSpPr>
          <p:spPr>
            <a:xfrm>
              <a:off x="6720625" y="1880314"/>
              <a:ext cx="90152" cy="175152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EB748BF0-9157-401F-A9EF-F1BADCC49F9E}"/>
                </a:ext>
              </a:extLst>
            </p:cNvPr>
            <p:cNvSpPr/>
            <p:nvPr/>
          </p:nvSpPr>
          <p:spPr>
            <a:xfrm>
              <a:off x="5653825" y="3606082"/>
              <a:ext cx="1156952" cy="9015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1" name="Organigramme : Disque magnétique 11">
              <a:extLst>
                <a:ext uri="{FF2B5EF4-FFF2-40B4-BE49-F238E27FC236}">
                  <a16:creationId xmlns:a16="http://schemas.microsoft.com/office/drawing/2014/main" id="{E001C238-C0D8-441E-88AF-D796695792BC}"/>
                </a:ext>
              </a:extLst>
            </p:cNvPr>
            <p:cNvSpPr/>
            <p:nvPr/>
          </p:nvSpPr>
          <p:spPr>
            <a:xfrm>
              <a:off x="5743977" y="2240925"/>
              <a:ext cx="976648" cy="206062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2" name="Flèche vers le bas 12">
              <a:extLst>
                <a:ext uri="{FF2B5EF4-FFF2-40B4-BE49-F238E27FC236}">
                  <a16:creationId xmlns:a16="http://schemas.microsoft.com/office/drawing/2014/main" id="{09B4F68D-18AC-4393-9CFC-1DD928046BFC}"/>
                </a:ext>
              </a:extLst>
            </p:cNvPr>
            <p:cNvSpPr/>
            <p:nvPr/>
          </p:nvSpPr>
          <p:spPr>
            <a:xfrm>
              <a:off x="6156101" y="1403797"/>
              <a:ext cx="167426" cy="837128"/>
            </a:xfrm>
            <a:prstGeom prst="down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3" name="ZoneTexte 15">
              <a:extLst>
                <a:ext uri="{FF2B5EF4-FFF2-40B4-BE49-F238E27FC236}">
                  <a16:creationId xmlns:a16="http://schemas.microsoft.com/office/drawing/2014/main" id="{0EB7DEA4-B88E-4652-AABA-4BD490DB3FA7}"/>
                </a:ext>
              </a:extLst>
            </p:cNvPr>
            <p:cNvSpPr txBox="1"/>
            <p:nvPr/>
          </p:nvSpPr>
          <p:spPr>
            <a:xfrm>
              <a:off x="6206124" y="1276001"/>
              <a:ext cx="830580" cy="447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sz="2400" b="1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</a:t>
              </a:r>
              <a:r>
                <a:rPr lang="fr-MA" sz="2400" b="1" i="1" baseline="-25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ext</a:t>
              </a:r>
              <a:endPara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ZoneTexte 16">
              <a:extLst>
                <a:ext uri="{FF2B5EF4-FFF2-40B4-BE49-F238E27FC236}">
                  <a16:creationId xmlns:a16="http://schemas.microsoft.com/office/drawing/2014/main" id="{07625179-0A6B-4DB6-915D-0B7C3DD319F4}"/>
                </a:ext>
              </a:extLst>
            </p:cNvPr>
            <p:cNvSpPr txBox="1"/>
            <p:nvPr/>
          </p:nvSpPr>
          <p:spPr>
            <a:xfrm>
              <a:off x="5733879" y="2574794"/>
              <a:ext cx="1008380" cy="447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Fluide</a:t>
              </a:r>
            </a:p>
          </p:txBody>
        </p:sp>
      </p:grpSp>
      <p:sp>
        <p:nvSpPr>
          <p:cNvPr id="15" name="ZoneTexte 18">
            <a:extLst>
              <a:ext uri="{FF2B5EF4-FFF2-40B4-BE49-F238E27FC236}">
                <a16:creationId xmlns:a16="http://schemas.microsoft.com/office/drawing/2014/main" id="{3A35615F-6A39-411F-850B-43EBD069D389}"/>
              </a:ext>
            </a:extLst>
          </p:cNvPr>
          <p:cNvSpPr txBox="1"/>
          <p:nvPr/>
        </p:nvSpPr>
        <p:spPr>
          <a:xfrm>
            <a:off x="8664272" y="2052024"/>
            <a:ext cx="436879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endParaRPr lang="fr-MA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ZoneTexte 5">
            <a:extLst>
              <a:ext uri="{FF2B5EF4-FFF2-40B4-BE49-F238E27FC236}">
                <a16:creationId xmlns:a16="http://schemas.microsoft.com/office/drawing/2014/main" id="{CC1A4C39-2FB0-4312-B44E-412E268DC765}"/>
              </a:ext>
            </a:extLst>
          </p:cNvPr>
          <p:cNvSpPr txBox="1"/>
          <p:nvPr/>
        </p:nvSpPr>
        <p:spPr>
          <a:xfrm>
            <a:off x="368914" y="1760017"/>
            <a:ext cx="6494780" cy="44704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Travail élémentaire des forces de 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A2AF68-0C37-4B33-A40C-091122A249D0}"/>
                  </a:ext>
                </a:extLst>
              </p:cNvPr>
              <p:cNvSpPr txBox="1"/>
              <p:nvPr/>
            </p:nvSpPr>
            <p:spPr>
              <a:xfrm>
                <a:off x="368914" y="2541516"/>
                <a:ext cx="5348387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u="sng" dirty="0"/>
                  <a:t>En négligeant la masse du piston</a:t>
                </a:r>
                <a:r>
                  <a:rPr lang="fr-FR" dirty="0"/>
                  <a:t>,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La force exercée sur le piston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A2AF68-0C37-4B33-A40C-091122A24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14" y="2541516"/>
                <a:ext cx="5348387" cy="825034"/>
              </a:xfrm>
              <a:prstGeom prst="rect">
                <a:avLst/>
              </a:prstGeom>
              <a:blipFill>
                <a:blip r:embed="rId3"/>
                <a:stretch>
                  <a:fillRect l="-1026" t="-4444" b="-51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0FE2BF-AFE4-4C5F-A18D-41E5ADD6ED99}"/>
              </a:ext>
            </a:extLst>
          </p:cNvPr>
          <p:cNvCxnSpPr/>
          <p:nvPr/>
        </p:nvCxnSpPr>
        <p:spPr>
          <a:xfrm flipV="1">
            <a:off x="8376926" y="1473561"/>
            <a:ext cx="0" cy="2666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2743656-2DFF-4ED6-8E21-183351B6D189}"/>
              </a:ext>
            </a:extLst>
          </p:cNvPr>
          <p:cNvSpPr txBox="1"/>
          <p:nvPr/>
        </p:nvSpPr>
        <p:spPr>
          <a:xfrm flipH="1">
            <a:off x="8056363" y="1336813"/>
            <a:ext cx="164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FA18E9-49AF-4469-BDD5-5838D411B33C}"/>
              </a:ext>
            </a:extLst>
          </p:cNvPr>
          <p:cNvCxnSpPr>
            <a:cxnSpLocks/>
          </p:cNvCxnSpPr>
          <p:nvPr/>
        </p:nvCxnSpPr>
        <p:spPr>
          <a:xfrm flipH="1">
            <a:off x="9388496" y="2499065"/>
            <a:ext cx="1557800" cy="750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57E5400-8155-4BC0-928D-85847B69AF48}"/>
              </a:ext>
            </a:extLst>
          </p:cNvPr>
          <p:cNvSpPr txBox="1"/>
          <p:nvPr/>
        </p:nvSpPr>
        <p:spPr>
          <a:xfrm>
            <a:off x="10999304" y="2374091"/>
            <a:ext cx="8300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/>
              <a:t>piston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C1AE8AA-62D3-4F21-8A12-18325DF042A6}"/>
                  </a:ext>
                </a:extLst>
              </p:cNvPr>
              <p:cNvSpPr txBox="1"/>
              <p:nvPr/>
            </p:nvSpPr>
            <p:spPr>
              <a:xfrm>
                <a:off x="368914" y="3545398"/>
                <a:ext cx="6096000" cy="516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800" b="0" i="0" u="none" strike="noStrike" baseline="0" dirty="0"/>
                  <a:t>Si Le déplacement élémentaire du piston est  </a:t>
                </a:r>
                <a14:m>
                  <m:oMath xmlns:m="http://schemas.openxmlformats.org/officeDocument/2006/math">
                    <m:r>
                      <a:rPr lang="fr-FR" sz="2400" b="1" i="0" u="none" strike="noStrike" baseline="0" smtClean="0">
                        <a:latin typeface="Cambria Math" panose="02040503050406030204" pitchFamily="18" charset="0"/>
                      </a:rPr>
                      <m:t>𝐝</m:t>
                    </m:r>
                    <m:acc>
                      <m:accPr>
                        <m:chr m:val="⃗"/>
                        <m:ctrlPr>
                          <a:rPr lang="fr-FR" sz="2400" b="1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 u="none" strike="noStrike" baseline="0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acc>
                    <m:r>
                      <a:rPr lang="fr-FR" sz="2400" b="1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u="none" strike="noStrike" baseline="0" smtClean="0">
                        <a:latin typeface="Cambria Math" panose="02040503050406030204" pitchFamily="18" charset="0"/>
                      </a:rPr>
                      <m:t>𝒅𝒛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C1AE8AA-62D3-4F21-8A12-18325DF04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14" y="3545398"/>
                <a:ext cx="6096000" cy="516488"/>
              </a:xfrm>
              <a:prstGeom prst="rect">
                <a:avLst/>
              </a:prstGeom>
              <a:blipFill>
                <a:blip r:embed="rId4"/>
                <a:stretch>
                  <a:fillRect l="-700" b="-154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A0F0A7-07F3-49D2-863A-380D764A0A24}"/>
                  </a:ext>
                </a:extLst>
              </p:cNvPr>
              <p:cNvSpPr txBox="1"/>
              <p:nvPr/>
            </p:nvSpPr>
            <p:spPr>
              <a:xfrm>
                <a:off x="368914" y="4248319"/>
                <a:ext cx="8589163" cy="472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fr-FR" sz="2000" b="0" i="0" u="none" strike="noStrike" baseline="0" dirty="0"/>
                  <a:t>Le travail élémentaire algébriquement fourni par la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fr-FR" sz="2000" b="0" i="0" u="none" strike="noStrike" baseline="0" dirty="0"/>
                  <a:t> au fluide vaut :</a:t>
                </a:r>
                <a:endParaRPr lang="fr-FR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A0F0A7-07F3-49D2-863A-380D764A0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14" y="4248319"/>
                <a:ext cx="8589163" cy="472117"/>
              </a:xfrm>
              <a:prstGeom prst="rect">
                <a:avLst/>
              </a:prstGeom>
              <a:blipFill>
                <a:blip r:embed="rId5"/>
                <a:stretch>
                  <a:fillRect l="-639" b="-181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1D2F94-3B74-44F1-ACEE-DE9AA16741F5}"/>
                  </a:ext>
                </a:extLst>
              </p:cNvPr>
              <p:cNvSpPr txBox="1"/>
              <p:nvPr/>
            </p:nvSpPr>
            <p:spPr>
              <a:xfrm>
                <a:off x="1100872" y="5025516"/>
                <a:ext cx="3448380" cy="4657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400" b="1">
                          <a:latin typeface="Cambria Math" panose="02040503050406030204" pitchFamily="18" charset="0"/>
                        </a:rPr>
                        <m:t>𝐝</m:t>
                      </m:r>
                      <m:acc>
                        <m:accPr>
                          <m:chr m:val="⃗"/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𝒅𝒛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1D2F94-3B74-44F1-ACEE-DE9AA1674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872" y="5025516"/>
                <a:ext cx="3448380" cy="4657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6C1FC9-7747-41CB-A538-7B97B2294447}"/>
                  </a:ext>
                </a:extLst>
              </p:cNvPr>
              <p:cNvSpPr txBox="1"/>
              <p:nvPr/>
            </p:nvSpPr>
            <p:spPr>
              <a:xfrm>
                <a:off x="429683" y="5779982"/>
                <a:ext cx="9251481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b="0" i="0" u="none" strike="noStrike" baseline="0" dirty="0">
                    <a:latin typeface="TimesNewRoman"/>
                  </a:rPr>
                  <a:t>On note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fr-FR" sz="2000" b="1" i="1" u="none" strike="noStrike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 err="1">
                        <a:latin typeface="Cambria Math" panose="02040503050406030204" pitchFamily="18" charset="0"/>
                      </a:rPr>
                      <m:t>𝑺𝒅𝒙</m:t>
                    </m:r>
                  </m:oMath>
                </a14:m>
                <a:r>
                  <a:rPr lang="fr-FR" sz="1800" b="0" i="1" u="none" strike="noStrike" baseline="0" dirty="0">
                    <a:latin typeface="TimesNewRoman,Italic"/>
                  </a:rPr>
                  <a:t> </a:t>
                </a:r>
                <a:r>
                  <a:rPr lang="fr-FR" sz="1800" b="0" i="0" u="none" strike="noStrike" baseline="0" dirty="0">
                    <a:latin typeface="TimesNewRoman"/>
                  </a:rPr>
                  <a:t>la variation de volume au cours du déplacement algébrique du piston.</a:t>
                </a:r>
                <a:endParaRPr lang="fr-F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6C1FC9-7747-41CB-A538-7B97B2294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83" y="5779982"/>
                <a:ext cx="9251481" cy="392993"/>
              </a:xfrm>
              <a:prstGeom prst="rect">
                <a:avLst/>
              </a:prstGeom>
              <a:blipFill>
                <a:blip r:embed="rId7"/>
                <a:stretch>
                  <a:fillRect l="-527" t="-3077" b="-21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F39F74-774C-4DAD-A827-1F81411F5634}"/>
                  </a:ext>
                </a:extLst>
              </p:cNvPr>
              <p:cNvSpPr txBox="1"/>
              <p:nvPr/>
            </p:nvSpPr>
            <p:spPr>
              <a:xfrm>
                <a:off x="3616304" y="6237291"/>
                <a:ext cx="2150589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F39F74-774C-4DAD-A827-1F81411F5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304" y="6237291"/>
                <a:ext cx="2150589" cy="369332"/>
              </a:xfrm>
              <a:prstGeom prst="rect">
                <a:avLst/>
              </a:prstGeom>
              <a:blipFill>
                <a:blip r:embed="rId8"/>
                <a:stretch>
                  <a:fillRect l="-2817" r="-2817"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41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8" name="Oval 5"/>
          <p:cNvSpPr/>
          <p:nvPr/>
        </p:nvSpPr>
        <p:spPr>
          <a:xfrm rot="3781128">
            <a:off x="2854907" y="1046571"/>
            <a:ext cx="3218938" cy="566679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9099" name="Oval 2"/>
          <p:cNvSpPr/>
          <p:nvPr/>
        </p:nvSpPr>
        <p:spPr>
          <a:xfrm rot="3781128">
            <a:off x="3346841" y="1521426"/>
            <a:ext cx="2366053" cy="450535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9100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49385" y="3285127"/>
            <a:ext cx="1937903" cy="584775"/>
          </a:xfrm>
          <a:prstGeom prst="rect">
            <a:avLst/>
          </a:prstGeom>
          <a:blipFill>
            <a:blip r:embed="rId2"/>
            <a:stretch>
              <a:fillRect l="-7862" t="-12500" b="-3437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1" name="TextBox 4"/>
          <p:cNvSpPr txBox="1"/>
          <p:nvPr/>
        </p:nvSpPr>
        <p:spPr>
          <a:xfrm>
            <a:off x="7418164" y="3706945"/>
            <a:ext cx="1783079" cy="574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Extérieur</a:t>
            </a:r>
          </a:p>
        </p:txBody>
      </p:sp>
      <p:cxnSp>
        <p:nvCxnSpPr>
          <p:cNvPr id="3145728" name="Straight Arrow Connector 7"/>
          <p:cNvCxnSpPr>
            <a:cxnSpLocks/>
          </p:cNvCxnSpPr>
          <p:nvPr/>
        </p:nvCxnSpPr>
        <p:spPr>
          <a:xfrm flipH="1">
            <a:off x="5987288" y="861391"/>
            <a:ext cx="307495" cy="10204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Arrow Connector 8"/>
          <p:cNvCxnSpPr>
            <a:cxnSpLocks/>
          </p:cNvCxnSpPr>
          <p:nvPr/>
        </p:nvCxnSpPr>
        <p:spPr>
          <a:xfrm flipH="1">
            <a:off x="6920342" y="1577009"/>
            <a:ext cx="712402" cy="6846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Arrow Connector 10"/>
          <p:cNvCxnSpPr>
            <a:cxnSpLocks/>
          </p:cNvCxnSpPr>
          <p:nvPr/>
        </p:nvCxnSpPr>
        <p:spPr>
          <a:xfrm flipH="1" flipV="1">
            <a:off x="7172864" y="3216622"/>
            <a:ext cx="908702" cy="685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Arrow Connector 12"/>
          <p:cNvCxnSpPr>
            <a:cxnSpLocks/>
          </p:cNvCxnSpPr>
          <p:nvPr/>
        </p:nvCxnSpPr>
        <p:spPr>
          <a:xfrm>
            <a:off x="4713535" y="1038206"/>
            <a:ext cx="151054" cy="9430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Arrow Connector 13"/>
          <p:cNvCxnSpPr>
            <a:cxnSpLocks/>
          </p:cNvCxnSpPr>
          <p:nvPr/>
        </p:nvCxnSpPr>
        <p:spPr>
          <a:xfrm>
            <a:off x="3195843" y="1697806"/>
            <a:ext cx="243941" cy="7936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Arrow Connector 14"/>
          <p:cNvCxnSpPr>
            <a:cxnSpLocks/>
          </p:cNvCxnSpPr>
          <p:nvPr/>
        </p:nvCxnSpPr>
        <p:spPr>
          <a:xfrm>
            <a:off x="1756494" y="2491467"/>
            <a:ext cx="589141" cy="793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Straight Arrow Connector 15"/>
          <p:cNvCxnSpPr>
            <a:cxnSpLocks/>
          </p:cNvCxnSpPr>
          <p:nvPr/>
        </p:nvCxnSpPr>
        <p:spPr>
          <a:xfrm>
            <a:off x="785677" y="3931927"/>
            <a:ext cx="1077906" cy="3313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Straight Arrow Connector 22"/>
          <p:cNvCxnSpPr>
            <a:cxnSpLocks/>
          </p:cNvCxnSpPr>
          <p:nvPr/>
        </p:nvCxnSpPr>
        <p:spPr>
          <a:xfrm flipV="1">
            <a:off x="1058452" y="5275129"/>
            <a:ext cx="907492" cy="5752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Straight Arrow Connector 24"/>
          <p:cNvCxnSpPr>
            <a:cxnSpLocks/>
          </p:cNvCxnSpPr>
          <p:nvPr/>
        </p:nvCxnSpPr>
        <p:spPr>
          <a:xfrm flipV="1">
            <a:off x="2389431" y="5850399"/>
            <a:ext cx="340517" cy="8701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Straight Arrow Connector 28"/>
          <p:cNvCxnSpPr>
            <a:cxnSpLocks/>
          </p:cNvCxnSpPr>
          <p:nvPr/>
        </p:nvCxnSpPr>
        <p:spPr>
          <a:xfrm flipH="1" flipV="1">
            <a:off x="3949023" y="5850399"/>
            <a:ext cx="215279" cy="8701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Arrow Connector 29"/>
          <p:cNvCxnSpPr>
            <a:cxnSpLocks/>
          </p:cNvCxnSpPr>
          <p:nvPr/>
        </p:nvCxnSpPr>
        <p:spPr>
          <a:xfrm flipH="1" flipV="1">
            <a:off x="6584525" y="4386470"/>
            <a:ext cx="875493" cy="7737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Arrow Connector 30"/>
          <p:cNvCxnSpPr>
            <a:cxnSpLocks/>
          </p:cNvCxnSpPr>
          <p:nvPr/>
        </p:nvCxnSpPr>
        <p:spPr>
          <a:xfrm flipH="1" flipV="1">
            <a:off x="5512904" y="5273221"/>
            <a:ext cx="474384" cy="10122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102" name="TextBox 3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50096" y="292737"/>
            <a:ext cx="1259589" cy="5232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3" name="TextBox 4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87276" y="1053789"/>
            <a:ext cx="1259589" cy="523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4" name="TextBox 4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9290" y="2547672"/>
            <a:ext cx="1259589" cy="52322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5" name="TextBox 4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30310" y="5864810"/>
            <a:ext cx="1259589" cy="52322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6" name="TextBox 4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63887" y="5695173"/>
            <a:ext cx="1259589" cy="52322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7" name="TextBox 4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7402" y="2997706"/>
            <a:ext cx="1259589" cy="52322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8" name="TextBox 4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83742" y="881194"/>
            <a:ext cx="3230051" cy="461665"/>
          </a:xfrm>
          <a:prstGeom prst="rect">
            <a:avLst/>
          </a:prstGeom>
          <a:blipFill>
            <a:blip r:embed="rId9"/>
            <a:stretch>
              <a:fillRect l="-2820" t="-9091" b="-28571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9109" name="Arc 46"/>
          <p:cNvSpPr/>
          <p:nvPr/>
        </p:nvSpPr>
        <p:spPr>
          <a:xfrm rot="19025199">
            <a:off x="5859049" y="1496752"/>
            <a:ext cx="1886573" cy="914400"/>
          </a:xfrm>
          <a:prstGeom prst="arc">
            <a:avLst>
              <a:gd name="adj1" fmla="val 12064331"/>
              <a:gd name="adj2" fmla="val 0"/>
            </a:avLst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9110" name="TextBox 4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098767" y="4891744"/>
            <a:ext cx="2150589" cy="369332"/>
          </a:xfrm>
          <a:prstGeom prst="rect">
            <a:avLst/>
          </a:prstGeom>
          <a:blipFill>
            <a:blip r:embed="rId10"/>
            <a:stretch>
              <a:fillRect l="-3125" r="-3125" b="-1311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6EDC27-7EEE-43CE-8C4A-BBA08EABEC3A}"/>
                  </a:ext>
                </a:extLst>
              </p:cNvPr>
              <p:cNvSpPr txBox="1"/>
              <p:nvPr/>
            </p:nvSpPr>
            <p:spPr>
              <a:xfrm>
                <a:off x="1389939" y="313569"/>
                <a:ext cx="2150589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6EDC27-7EEE-43CE-8C4A-BBA08EABE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939" y="313569"/>
                <a:ext cx="2150589" cy="369332"/>
              </a:xfrm>
              <a:prstGeom prst="rect">
                <a:avLst/>
              </a:prstGeom>
              <a:blipFill>
                <a:blip r:embed="rId2"/>
                <a:stretch>
                  <a:fillRect l="-2817" r="-2817"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F953FB-5C4F-4D68-9933-BA9BCEAFECAB}"/>
                  </a:ext>
                </a:extLst>
              </p:cNvPr>
              <p:cNvSpPr txBox="1"/>
              <p:nvPr/>
            </p:nvSpPr>
            <p:spPr>
              <a:xfrm>
                <a:off x="728868" y="1029810"/>
                <a:ext cx="10734263" cy="1429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𝒅𝑽</m:t>
                    </m:r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</m:oMath>
                </a14:m>
                <a:r>
                  <a:rPr lang="fr-FR" dirty="0"/>
                  <a:t> </a:t>
                </a:r>
                <a:r>
                  <a:rPr lang="fr-FR" sz="2000" dirty="0"/>
                  <a:t>Le fluide se comprime, le travail de compression est positif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𝒅𝑽</m:t>
                    </m:r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</m:oMath>
                </a14:m>
                <a:r>
                  <a:rPr lang="fr-FR" sz="2000" dirty="0"/>
                  <a:t> Le fluide se détend, le travail de détente est positif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fr-F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F953FB-5C4F-4D68-9933-BA9BCEAFE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68" y="1029810"/>
                <a:ext cx="10734263" cy="1429494"/>
              </a:xfrm>
              <a:prstGeom prst="rect">
                <a:avLst/>
              </a:prstGeom>
              <a:blipFill>
                <a:blip r:embed="rId3"/>
                <a:stretch>
                  <a:fillRect l="-795" t="-17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27">
            <a:extLst>
              <a:ext uri="{FF2B5EF4-FFF2-40B4-BE49-F238E27FC236}">
                <a16:creationId xmlns:a16="http://schemas.microsoft.com/office/drawing/2014/main" id="{30AF8891-6E1A-45F4-9442-971AC2E889BC}"/>
              </a:ext>
            </a:extLst>
          </p:cNvPr>
          <p:cNvSpPr txBox="1"/>
          <p:nvPr/>
        </p:nvSpPr>
        <p:spPr>
          <a:xfrm>
            <a:off x="423508" y="2371399"/>
            <a:ext cx="9290336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Calcul du Travail reçu au cours d’une transformation non élémentaire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93532E-AAF3-4C66-BD4F-C57A92226F3D}"/>
                  </a:ext>
                </a:extLst>
              </p:cNvPr>
              <p:cNvSpPr txBox="1"/>
              <p:nvPr/>
            </p:nvSpPr>
            <p:spPr>
              <a:xfrm>
                <a:off x="423508" y="3087757"/>
                <a:ext cx="11774505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b="1" u="sng" dirty="0"/>
                  <a:t>Transformation monobare :</a:t>
                </a:r>
                <a:endParaRPr lang="fr-FR" b="1" u="sng" dirty="0"/>
              </a:p>
              <a:p>
                <a:r>
                  <a:rPr lang="fr-FR" dirty="0"/>
                  <a:t>Le volume du fluide passe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à pression extérieur constante entre deux états d’équilibre du piston, </a:t>
                </a:r>
                <a:r>
                  <a:rPr lang="fr-FR" u="sng" dirty="0"/>
                  <a:t>sans frottement</a:t>
                </a:r>
                <a:r>
                  <a:rPr lang="fr-FR" dirty="0"/>
                  <a:t>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93532E-AAF3-4C66-BD4F-C57A92226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08" y="3087757"/>
                <a:ext cx="11774505" cy="677108"/>
              </a:xfrm>
              <a:prstGeom prst="rect">
                <a:avLst/>
              </a:prstGeom>
              <a:blipFill>
                <a:blip r:embed="rId4"/>
                <a:stretch>
                  <a:fillRect l="-466" t="-5405" b="-13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09566-E140-4867-9B91-2345671E3FF6}"/>
                  </a:ext>
                </a:extLst>
              </p:cNvPr>
              <p:cNvSpPr txBox="1"/>
              <p:nvPr/>
            </p:nvSpPr>
            <p:spPr>
              <a:xfrm>
                <a:off x="1524462" y="3846903"/>
                <a:ext cx="1881541" cy="655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𝒆𝒙𝒕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09566-E140-4867-9B91-2345671E3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462" y="3846903"/>
                <a:ext cx="1881541" cy="655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CDCD271B-CAD4-4D10-8191-072EC3C5B4AE}"/>
              </a:ext>
            </a:extLst>
          </p:cNvPr>
          <p:cNvSpPr/>
          <p:nvPr/>
        </p:nvSpPr>
        <p:spPr>
          <a:xfrm>
            <a:off x="4090268" y="3998285"/>
            <a:ext cx="978408" cy="23410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F3C445-472B-4C43-9C53-787EB4CC3134}"/>
                  </a:ext>
                </a:extLst>
              </p:cNvPr>
              <p:cNvSpPr txBox="1"/>
              <p:nvPr/>
            </p:nvSpPr>
            <p:spPr>
              <a:xfrm>
                <a:off x="5502078" y="3907921"/>
                <a:ext cx="2674513" cy="4001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F3C445-472B-4C43-9C53-787EB4CC3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078" y="3907921"/>
                <a:ext cx="2674513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B1BB07-4F0E-46AD-A769-E2B629097D0E}"/>
                  </a:ext>
                </a:extLst>
              </p:cNvPr>
              <p:cNvSpPr txBox="1"/>
              <p:nvPr/>
            </p:nvSpPr>
            <p:spPr>
              <a:xfrm>
                <a:off x="417496" y="4645459"/>
                <a:ext cx="11045636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b="1" u="sng" dirty="0"/>
                  <a:t>Transformation quasi-statique :</a:t>
                </a:r>
                <a:endParaRPr lang="fr-FR" b="1" u="sng" dirty="0"/>
              </a:p>
              <a:p>
                <a:r>
                  <a:rPr lang="fr-FR" dirty="0"/>
                  <a:t>Le volume du fluide passe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. La pression extérieur s’identifie à la pression intérieure du fluide, si il n’y a pas d’autres forces.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000" dirty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B1BB07-4F0E-46AD-A769-E2B629097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96" y="4645459"/>
                <a:ext cx="11045636" cy="984885"/>
              </a:xfrm>
              <a:prstGeom prst="rect">
                <a:avLst/>
              </a:prstGeom>
              <a:blipFill>
                <a:blip r:embed="rId7"/>
                <a:stretch>
                  <a:fillRect l="-497" t="-3086" b="-80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AC83C9-EC22-4B87-9D05-92AFB9817DBA}"/>
                  </a:ext>
                </a:extLst>
              </p:cNvPr>
              <p:cNvSpPr txBox="1"/>
              <p:nvPr/>
            </p:nvSpPr>
            <p:spPr>
              <a:xfrm>
                <a:off x="3364986" y="5391147"/>
                <a:ext cx="4274183" cy="8740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𝒆𝒙𝒕</m:t>
                              </m:r>
                            </m:sub>
                          </m:s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AC83C9-EC22-4B87-9D05-92AFB9817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986" y="5391147"/>
                <a:ext cx="4274183" cy="8740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421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76EAE1-133B-430F-AB3D-2CBAE8B646AF}"/>
              </a:ext>
            </a:extLst>
          </p:cNvPr>
          <p:cNvSpPr txBox="1"/>
          <p:nvPr/>
        </p:nvSpPr>
        <p:spPr>
          <a:xfrm>
            <a:off x="516835" y="278296"/>
            <a:ext cx="532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i="1" u="sng" dirty="0"/>
              <a:t>Interprétation géométrique du travail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44B1EE-24D8-4C48-B1DF-E6F17B66FF3E}"/>
                  </a:ext>
                </a:extLst>
              </p:cNvPr>
              <p:cNvSpPr txBox="1"/>
              <p:nvPr/>
            </p:nvSpPr>
            <p:spPr>
              <a:xfrm>
                <a:off x="516835" y="872483"/>
                <a:ext cx="10632917" cy="1376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fr-FR" sz="2000" dirty="0"/>
                  <a:t>Pour une transformation quasi-statique, le chemin de la transformation peut être représenté sous forme d’une courbe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. C’est-à-dire ensemble de point représentatif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fr-FR" sz="2000" b="1" dirty="0"/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fr-FR" sz="2000" dirty="0"/>
                  <a:t>C’est une représentation dans le </a:t>
                </a:r>
                <a:r>
                  <a:rPr lang="fr-FR" sz="2000" b="1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diagramme de Clapeyron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44B1EE-24D8-4C48-B1DF-E6F17B66F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5" y="872483"/>
                <a:ext cx="10632917" cy="1376467"/>
              </a:xfrm>
              <a:prstGeom prst="rect">
                <a:avLst/>
              </a:prstGeom>
              <a:blipFill>
                <a:blip r:embed="rId2"/>
                <a:stretch>
                  <a:fillRect l="-516" t="-2212" r="-860" b="-92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EE5DCF-E6B1-4B98-97E8-59D33A84EAD2}"/>
              </a:ext>
            </a:extLst>
          </p:cNvPr>
          <p:cNvCxnSpPr/>
          <p:nvPr/>
        </p:nvCxnSpPr>
        <p:spPr>
          <a:xfrm flipV="1">
            <a:off x="993912" y="2557670"/>
            <a:ext cx="0" cy="31805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8A96D0-55CF-4855-BE69-37DFA6693030}"/>
              </a:ext>
            </a:extLst>
          </p:cNvPr>
          <p:cNvCxnSpPr>
            <a:cxnSpLocks/>
          </p:cNvCxnSpPr>
          <p:nvPr/>
        </p:nvCxnSpPr>
        <p:spPr>
          <a:xfrm flipV="1">
            <a:off x="993912" y="5738191"/>
            <a:ext cx="36576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CE3B5F-253B-4F1B-AC45-31D0EFA86005}"/>
                  </a:ext>
                </a:extLst>
              </p:cNvPr>
              <p:cNvSpPr txBox="1"/>
              <p:nvPr/>
            </p:nvSpPr>
            <p:spPr>
              <a:xfrm>
                <a:off x="516835" y="2381472"/>
                <a:ext cx="47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CE3B5F-253B-4F1B-AC45-31D0EFA86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5" y="2381472"/>
                <a:ext cx="47707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B1835-4B69-46FF-B644-B1AF7143FF57}"/>
                  </a:ext>
                </a:extLst>
              </p:cNvPr>
              <p:cNvSpPr txBox="1"/>
              <p:nvPr/>
            </p:nvSpPr>
            <p:spPr>
              <a:xfrm>
                <a:off x="4651512" y="5507358"/>
                <a:ext cx="47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𝑽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B1835-4B69-46FF-B644-B1AF7143F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12" y="5507358"/>
                <a:ext cx="47707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1ACAA-2677-469C-A1C3-134880248AAD}"/>
              </a:ext>
            </a:extLst>
          </p:cNvPr>
          <p:cNvCxnSpPr>
            <a:cxnSpLocks/>
          </p:cNvCxnSpPr>
          <p:nvPr/>
        </p:nvCxnSpPr>
        <p:spPr>
          <a:xfrm flipH="1" flipV="1">
            <a:off x="2373076" y="4571999"/>
            <a:ext cx="449636" cy="1893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1AFD93-A5F8-4190-92CF-F9935EB061D3}"/>
                  </a:ext>
                </a:extLst>
              </p:cNvPr>
              <p:cNvSpPr txBox="1"/>
              <p:nvPr/>
            </p:nvSpPr>
            <p:spPr>
              <a:xfrm>
                <a:off x="3558644" y="5738190"/>
                <a:ext cx="4108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1AFD93-A5F8-4190-92CF-F9935EB06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644" y="5738190"/>
                <a:ext cx="410816" cy="461665"/>
              </a:xfrm>
              <a:prstGeom prst="rect">
                <a:avLst/>
              </a:prstGeom>
              <a:blipFill>
                <a:blip r:embed="rId5"/>
                <a:stretch>
                  <a:fillRect l="-4478" r="-22388"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633FD0-C2BF-4A0F-A953-127E9A6CE233}"/>
                  </a:ext>
                </a:extLst>
              </p:cNvPr>
              <p:cNvSpPr txBox="1"/>
              <p:nvPr/>
            </p:nvSpPr>
            <p:spPr>
              <a:xfrm>
                <a:off x="1252548" y="5731564"/>
                <a:ext cx="4108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633FD0-C2BF-4A0F-A953-127E9A6CE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548" y="5731564"/>
                <a:ext cx="410816" cy="461665"/>
              </a:xfrm>
              <a:prstGeom prst="rect">
                <a:avLst/>
              </a:prstGeom>
              <a:blipFill>
                <a:blip r:embed="rId6"/>
                <a:stretch>
                  <a:fillRect l="-2941" r="-20588"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94FC35-F81B-4639-973E-CCC5062876D5}"/>
              </a:ext>
            </a:extLst>
          </p:cNvPr>
          <p:cNvSpPr txBox="1"/>
          <p:nvPr/>
        </p:nvSpPr>
        <p:spPr>
          <a:xfrm>
            <a:off x="1901755" y="2443968"/>
            <a:ext cx="1841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F796B1A-B655-4E4D-ABF9-2E2B4FC198D7}"/>
              </a:ext>
            </a:extLst>
          </p:cNvPr>
          <p:cNvSpPr/>
          <p:nvPr/>
        </p:nvSpPr>
        <p:spPr>
          <a:xfrm>
            <a:off x="1431452" y="3314593"/>
            <a:ext cx="2332819" cy="1877531"/>
          </a:xfrm>
          <a:custGeom>
            <a:avLst/>
            <a:gdLst>
              <a:gd name="connsiteX0" fmla="*/ 0 w 2332819"/>
              <a:gd name="connsiteY0" fmla="*/ 0 h 1877531"/>
              <a:gd name="connsiteX1" fmla="*/ 622853 w 2332819"/>
              <a:gd name="connsiteY1" fmla="*/ 1020417 h 1877531"/>
              <a:gd name="connsiteX2" fmla="*/ 2186609 w 2332819"/>
              <a:gd name="connsiteY2" fmla="*/ 1802295 h 1877531"/>
              <a:gd name="connsiteX3" fmla="*/ 2173357 w 2332819"/>
              <a:gd name="connsiteY3" fmla="*/ 1802295 h 187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2819" h="1877531">
                <a:moveTo>
                  <a:pt x="0" y="0"/>
                </a:moveTo>
                <a:cubicBezTo>
                  <a:pt x="129209" y="360017"/>
                  <a:pt x="258418" y="720035"/>
                  <a:pt x="622853" y="1020417"/>
                </a:cubicBezTo>
                <a:cubicBezTo>
                  <a:pt x="987288" y="1320799"/>
                  <a:pt x="2186609" y="1802295"/>
                  <a:pt x="2186609" y="1802295"/>
                </a:cubicBezTo>
                <a:cubicBezTo>
                  <a:pt x="2445026" y="1932608"/>
                  <a:pt x="2309191" y="1867451"/>
                  <a:pt x="2173357" y="1802295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C4AF8A-BE5F-4553-A030-F61FD7973B70}"/>
              </a:ext>
            </a:extLst>
          </p:cNvPr>
          <p:cNvCxnSpPr/>
          <p:nvPr/>
        </p:nvCxnSpPr>
        <p:spPr>
          <a:xfrm>
            <a:off x="1417981" y="3313044"/>
            <a:ext cx="0" cy="241189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AD6F94-2928-44D4-9D6E-E65FFF174D7F}"/>
              </a:ext>
            </a:extLst>
          </p:cNvPr>
          <p:cNvCxnSpPr>
            <a:cxnSpLocks/>
          </p:cNvCxnSpPr>
          <p:nvPr/>
        </p:nvCxnSpPr>
        <p:spPr>
          <a:xfrm>
            <a:off x="3777304" y="5203827"/>
            <a:ext cx="0" cy="53436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2B84E0-FEC6-4F2A-8F38-13767596FCA6}"/>
                  </a:ext>
                </a:extLst>
              </p:cNvPr>
              <p:cNvSpPr txBox="1"/>
              <p:nvPr/>
            </p:nvSpPr>
            <p:spPr>
              <a:xfrm>
                <a:off x="3269756" y="3067405"/>
                <a:ext cx="2763512" cy="8815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2B84E0-FEC6-4F2A-8F38-13767596F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756" y="3067405"/>
                <a:ext cx="2763512" cy="8815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FEBF9D9-9B55-4038-850A-F61A2CF50ACD}"/>
              </a:ext>
            </a:extLst>
          </p:cNvPr>
          <p:cNvSpPr/>
          <p:nvPr/>
        </p:nvSpPr>
        <p:spPr>
          <a:xfrm>
            <a:off x="1404516" y="3429000"/>
            <a:ext cx="2415592" cy="2282687"/>
          </a:xfrm>
          <a:custGeom>
            <a:avLst/>
            <a:gdLst>
              <a:gd name="connsiteX0" fmla="*/ 26685 w 2389053"/>
              <a:gd name="connsiteY0" fmla="*/ 0 h 2332383"/>
              <a:gd name="connsiteX1" fmla="*/ 26685 w 2389053"/>
              <a:gd name="connsiteY1" fmla="*/ 0 h 2332383"/>
              <a:gd name="connsiteX2" fmla="*/ 181 w 2389053"/>
              <a:gd name="connsiteY2" fmla="*/ 119270 h 2332383"/>
              <a:gd name="connsiteX3" fmla="*/ 13433 w 2389053"/>
              <a:gd name="connsiteY3" fmla="*/ 185531 h 2332383"/>
              <a:gd name="connsiteX4" fmla="*/ 53189 w 2389053"/>
              <a:gd name="connsiteY4" fmla="*/ 265044 h 2332383"/>
              <a:gd name="connsiteX5" fmla="*/ 79694 w 2389053"/>
              <a:gd name="connsiteY5" fmla="*/ 291548 h 2332383"/>
              <a:gd name="connsiteX6" fmla="*/ 92946 w 2389053"/>
              <a:gd name="connsiteY6" fmla="*/ 344557 h 2332383"/>
              <a:gd name="connsiteX7" fmla="*/ 132703 w 2389053"/>
              <a:gd name="connsiteY7" fmla="*/ 371061 h 2332383"/>
              <a:gd name="connsiteX8" fmla="*/ 212216 w 2389053"/>
              <a:gd name="connsiteY8" fmla="*/ 437322 h 2332383"/>
              <a:gd name="connsiteX9" fmla="*/ 291729 w 2389053"/>
              <a:gd name="connsiteY9" fmla="*/ 583096 h 2332383"/>
              <a:gd name="connsiteX10" fmla="*/ 331485 w 2389053"/>
              <a:gd name="connsiteY10" fmla="*/ 636105 h 2332383"/>
              <a:gd name="connsiteX11" fmla="*/ 371242 w 2389053"/>
              <a:gd name="connsiteY11" fmla="*/ 649357 h 2332383"/>
              <a:gd name="connsiteX12" fmla="*/ 384494 w 2389053"/>
              <a:gd name="connsiteY12" fmla="*/ 689113 h 2332383"/>
              <a:gd name="connsiteX13" fmla="*/ 450755 w 2389053"/>
              <a:gd name="connsiteY13" fmla="*/ 755374 h 2332383"/>
              <a:gd name="connsiteX14" fmla="*/ 490511 w 2389053"/>
              <a:gd name="connsiteY14" fmla="*/ 848139 h 2332383"/>
              <a:gd name="connsiteX15" fmla="*/ 530268 w 2389053"/>
              <a:gd name="connsiteY15" fmla="*/ 861392 h 2332383"/>
              <a:gd name="connsiteX16" fmla="*/ 570024 w 2389053"/>
              <a:gd name="connsiteY16" fmla="*/ 901148 h 2332383"/>
              <a:gd name="connsiteX17" fmla="*/ 583276 w 2389053"/>
              <a:gd name="connsiteY17" fmla="*/ 940905 h 2332383"/>
              <a:gd name="connsiteX18" fmla="*/ 623033 w 2389053"/>
              <a:gd name="connsiteY18" fmla="*/ 967409 h 2332383"/>
              <a:gd name="connsiteX19" fmla="*/ 689294 w 2389053"/>
              <a:gd name="connsiteY19" fmla="*/ 1033670 h 2332383"/>
              <a:gd name="connsiteX20" fmla="*/ 768807 w 2389053"/>
              <a:gd name="connsiteY20" fmla="*/ 1099931 h 2332383"/>
              <a:gd name="connsiteX21" fmla="*/ 808563 w 2389053"/>
              <a:gd name="connsiteY21" fmla="*/ 1113183 h 2332383"/>
              <a:gd name="connsiteX22" fmla="*/ 874824 w 2389053"/>
              <a:gd name="connsiteY22" fmla="*/ 1139687 h 2332383"/>
              <a:gd name="connsiteX23" fmla="*/ 914581 w 2389053"/>
              <a:gd name="connsiteY23" fmla="*/ 1166192 h 2332383"/>
              <a:gd name="connsiteX24" fmla="*/ 967589 w 2389053"/>
              <a:gd name="connsiteY24" fmla="*/ 1192696 h 2332383"/>
              <a:gd name="connsiteX25" fmla="*/ 1020598 w 2389053"/>
              <a:gd name="connsiteY25" fmla="*/ 1232453 h 2332383"/>
              <a:gd name="connsiteX26" fmla="*/ 1113363 w 2389053"/>
              <a:gd name="connsiteY26" fmla="*/ 1258957 h 2332383"/>
              <a:gd name="connsiteX27" fmla="*/ 1153120 w 2389053"/>
              <a:gd name="connsiteY27" fmla="*/ 1285461 h 2332383"/>
              <a:gd name="connsiteX28" fmla="*/ 1179624 w 2389053"/>
              <a:gd name="connsiteY28" fmla="*/ 1311966 h 2332383"/>
              <a:gd name="connsiteX29" fmla="*/ 1285642 w 2389053"/>
              <a:gd name="connsiteY29" fmla="*/ 1364974 h 2332383"/>
              <a:gd name="connsiteX30" fmla="*/ 1418163 w 2389053"/>
              <a:gd name="connsiteY30" fmla="*/ 1457739 h 2332383"/>
              <a:gd name="connsiteX31" fmla="*/ 1563937 w 2389053"/>
              <a:gd name="connsiteY31" fmla="*/ 1524000 h 2332383"/>
              <a:gd name="connsiteX32" fmla="*/ 1669955 w 2389053"/>
              <a:gd name="connsiteY32" fmla="*/ 1603513 h 2332383"/>
              <a:gd name="connsiteX33" fmla="*/ 1736216 w 2389053"/>
              <a:gd name="connsiteY33" fmla="*/ 1630018 h 2332383"/>
              <a:gd name="connsiteX34" fmla="*/ 1842233 w 2389053"/>
              <a:gd name="connsiteY34" fmla="*/ 1696279 h 2332383"/>
              <a:gd name="connsiteX35" fmla="*/ 1934998 w 2389053"/>
              <a:gd name="connsiteY35" fmla="*/ 1762539 h 2332383"/>
              <a:gd name="connsiteX36" fmla="*/ 2133781 w 2389053"/>
              <a:gd name="connsiteY36" fmla="*/ 1789044 h 2332383"/>
              <a:gd name="connsiteX37" fmla="*/ 2253050 w 2389053"/>
              <a:gd name="connsiteY37" fmla="*/ 1855305 h 2332383"/>
              <a:gd name="connsiteX38" fmla="*/ 2385572 w 2389053"/>
              <a:gd name="connsiteY38" fmla="*/ 1868557 h 2332383"/>
              <a:gd name="connsiteX39" fmla="*/ 2332563 w 2389053"/>
              <a:gd name="connsiteY39" fmla="*/ 1868557 h 2332383"/>
              <a:gd name="connsiteX40" fmla="*/ 2319311 w 2389053"/>
              <a:gd name="connsiteY40" fmla="*/ 1868557 h 2332383"/>
              <a:gd name="connsiteX41" fmla="*/ 2319311 w 2389053"/>
              <a:gd name="connsiteY41" fmla="*/ 2186609 h 2332383"/>
              <a:gd name="connsiteX42" fmla="*/ 2306059 w 2389053"/>
              <a:gd name="connsiteY42" fmla="*/ 2266122 h 2332383"/>
              <a:gd name="connsiteX43" fmla="*/ 2332563 w 2389053"/>
              <a:gd name="connsiteY43" fmla="*/ 2319131 h 2332383"/>
              <a:gd name="connsiteX44" fmla="*/ 39937 w 2389053"/>
              <a:gd name="connsiteY44" fmla="*/ 2332383 h 2332383"/>
              <a:gd name="connsiteX45" fmla="*/ 26685 w 2389053"/>
              <a:gd name="connsiteY45" fmla="*/ 66261 h 2332383"/>
              <a:gd name="connsiteX46" fmla="*/ 39937 w 2389053"/>
              <a:gd name="connsiteY46" fmla="*/ 331305 h 233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389053" h="2332383">
                <a:moveTo>
                  <a:pt x="26685" y="0"/>
                </a:moveTo>
                <a:lnTo>
                  <a:pt x="26685" y="0"/>
                </a:lnTo>
                <a:cubicBezTo>
                  <a:pt x="17850" y="39757"/>
                  <a:pt x="3083" y="78647"/>
                  <a:pt x="181" y="119270"/>
                </a:cubicBezTo>
                <a:cubicBezTo>
                  <a:pt x="-1424" y="141737"/>
                  <a:pt x="7970" y="163679"/>
                  <a:pt x="13433" y="185531"/>
                </a:cubicBezTo>
                <a:cubicBezTo>
                  <a:pt x="22340" y="221158"/>
                  <a:pt x="29634" y="235600"/>
                  <a:pt x="53189" y="265044"/>
                </a:cubicBezTo>
                <a:cubicBezTo>
                  <a:pt x="60994" y="274800"/>
                  <a:pt x="70859" y="282713"/>
                  <a:pt x="79694" y="291548"/>
                </a:cubicBezTo>
                <a:cubicBezTo>
                  <a:pt x="84111" y="309218"/>
                  <a:pt x="82843" y="329403"/>
                  <a:pt x="92946" y="344557"/>
                </a:cubicBezTo>
                <a:cubicBezTo>
                  <a:pt x="101781" y="357809"/>
                  <a:pt x="121441" y="359799"/>
                  <a:pt x="132703" y="371061"/>
                </a:cubicBezTo>
                <a:cubicBezTo>
                  <a:pt x="207629" y="445987"/>
                  <a:pt x="98493" y="380461"/>
                  <a:pt x="212216" y="437322"/>
                </a:cubicBezTo>
                <a:cubicBezTo>
                  <a:pt x="252333" y="517558"/>
                  <a:pt x="251375" y="526601"/>
                  <a:pt x="291729" y="583096"/>
                </a:cubicBezTo>
                <a:cubicBezTo>
                  <a:pt x="304567" y="601069"/>
                  <a:pt x="314517" y="621965"/>
                  <a:pt x="331485" y="636105"/>
                </a:cubicBezTo>
                <a:cubicBezTo>
                  <a:pt x="342216" y="645048"/>
                  <a:pt x="357990" y="644940"/>
                  <a:pt x="371242" y="649357"/>
                </a:cubicBezTo>
                <a:cubicBezTo>
                  <a:pt x="375659" y="662609"/>
                  <a:pt x="376113" y="677938"/>
                  <a:pt x="384494" y="689113"/>
                </a:cubicBezTo>
                <a:cubicBezTo>
                  <a:pt x="403235" y="714102"/>
                  <a:pt x="450755" y="755374"/>
                  <a:pt x="450755" y="755374"/>
                </a:cubicBezTo>
                <a:cubicBezTo>
                  <a:pt x="458675" y="779134"/>
                  <a:pt x="474135" y="831763"/>
                  <a:pt x="490511" y="848139"/>
                </a:cubicBezTo>
                <a:cubicBezTo>
                  <a:pt x="500389" y="858017"/>
                  <a:pt x="517016" y="856974"/>
                  <a:pt x="530268" y="861392"/>
                </a:cubicBezTo>
                <a:cubicBezTo>
                  <a:pt x="543520" y="874644"/>
                  <a:pt x="559628" y="885554"/>
                  <a:pt x="570024" y="901148"/>
                </a:cubicBezTo>
                <a:cubicBezTo>
                  <a:pt x="577773" y="912771"/>
                  <a:pt x="574550" y="929997"/>
                  <a:pt x="583276" y="940905"/>
                </a:cubicBezTo>
                <a:cubicBezTo>
                  <a:pt x="593226" y="953342"/>
                  <a:pt x="609781" y="958574"/>
                  <a:pt x="623033" y="967409"/>
                </a:cubicBezTo>
                <a:cubicBezTo>
                  <a:pt x="671624" y="1040297"/>
                  <a:pt x="623033" y="978453"/>
                  <a:pt x="689294" y="1033670"/>
                </a:cubicBezTo>
                <a:cubicBezTo>
                  <a:pt x="733258" y="1070306"/>
                  <a:pt x="719452" y="1075253"/>
                  <a:pt x="768807" y="1099931"/>
                </a:cubicBezTo>
                <a:cubicBezTo>
                  <a:pt x="781301" y="1106178"/>
                  <a:pt x="795484" y="1108278"/>
                  <a:pt x="808563" y="1113183"/>
                </a:cubicBezTo>
                <a:cubicBezTo>
                  <a:pt x="830837" y="1121536"/>
                  <a:pt x="853547" y="1129049"/>
                  <a:pt x="874824" y="1139687"/>
                </a:cubicBezTo>
                <a:cubicBezTo>
                  <a:pt x="889070" y="1146810"/>
                  <a:pt x="900752" y="1158290"/>
                  <a:pt x="914581" y="1166192"/>
                </a:cubicBezTo>
                <a:cubicBezTo>
                  <a:pt x="931733" y="1175993"/>
                  <a:pt x="950837" y="1182226"/>
                  <a:pt x="967589" y="1192696"/>
                </a:cubicBezTo>
                <a:cubicBezTo>
                  <a:pt x="986319" y="1204402"/>
                  <a:pt x="1001421" y="1221495"/>
                  <a:pt x="1020598" y="1232453"/>
                </a:cubicBezTo>
                <a:cubicBezTo>
                  <a:pt x="1035384" y="1240902"/>
                  <a:pt x="1101889" y="1256088"/>
                  <a:pt x="1113363" y="1258957"/>
                </a:cubicBezTo>
                <a:cubicBezTo>
                  <a:pt x="1126615" y="1267792"/>
                  <a:pt x="1140683" y="1275511"/>
                  <a:pt x="1153120" y="1285461"/>
                </a:cubicBezTo>
                <a:cubicBezTo>
                  <a:pt x="1162876" y="1293266"/>
                  <a:pt x="1168910" y="1305538"/>
                  <a:pt x="1179624" y="1311966"/>
                </a:cubicBezTo>
                <a:cubicBezTo>
                  <a:pt x="1213504" y="1332294"/>
                  <a:pt x="1285642" y="1364974"/>
                  <a:pt x="1285642" y="1364974"/>
                </a:cubicBezTo>
                <a:cubicBezTo>
                  <a:pt x="1326319" y="1405652"/>
                  <a:pt x="1352563" y="1435871"/>
                  <a:pt x="1418163" y="1457739"/>
                </a:cubicBezTo>
                <a:cubicBezTo>
                  <a:pt x="1463976" y="1473011"/>
                  <a:pt x="1534312" y="1494375"/>
                  <a:pt x="1563937" y="1524000"/>
                </a:cubicBezTo>
                <a:cubicBezTo>
                  <a:pt x="1597293" y="1557356"/>
                  <a:pt x="1620003" y="1583532"/>
                  <a:pt x="1669955" y="1603513"/>
                </a:cubicBezTo>
                <a:cubicBezTo>
                  <a:pt x="1692042" y="1612348"/>
                  <a:pt x="1715271" y="1618740"/>
                  <a:pt x="1736216" y="1630018"/>
                </a:cubicBezTo>
                <a:cubicBezTo>
                  <a:pt x="1772908" y="1649776"/>
                  <a:pt x="1812765" y="1666811"/>
                  <a:pt x="1842233" y="1696279"/>
                </a:cubicBezTo>
                <a:cubicBezTo>
                  <a:pt x="1882721" y="1736767"/>
                  <a:pt x="1879179" y="1741607"/>
                  <a:pt x="1934998" y="1762539"/>
                </a:cubicBezTo>
                <a:cubicBezTo>
                  <a:pt x="1991195" y="1783613"/>
                  <a:pt x="2088131" y="1784894"/>
                  <a:pt x="2133781" y="1789044"/>
                </a:cubicBezTo>
                <a:cubicBezTo>
                  <a:pt x="2169067" y="1812568"/>
                  <a:pt x="2207566" y="1848308"/>
                  <a:pt x="2253050" y="1855305"/>
                </a:cubicBezTo>
                <a:cubicBezTo>
                  <a:pt x="2296928" y="1862055"/>
                  <a:pt x="2341782" y="1861259"/>
                  <a:pt x="2385572" y="1868557"/>
                </a:cubicBezTo>
                <a:cubicBezTo>
                  <a:pt x="2403001" y="1871462"/>
                  <a:pt x="2350233" y="1868557"/>
                  <a:pt x="2332563" y="1868557"/>
                </a:cubicBezTo>
                <a:lnTo>
                  <a:pt x="2319311" y="1868557"/>
                </a:lnTo>
                <a:cubicBezTo>
                  <a:pt x="2335319" y="2044653"/>
                  <a:pt x="2339207" y="1997599"/>
                  <a:pt x="2319311" y="2186609"/>
                </a:cubicBezTo>
                <a:cubicBezTo>
                  <a:pt x="2316498" y="2213331"/>
                  <a:pt x="2306059" y="2266122"/>
                  <a:pt x="2306059" y="2266122"/>
                </a:cubicBezTo>
                <a:lnTo>
                  <a:pt x="2332563" y="2319131"/>
                </a:lnTo>
                <a:lnTo>
                  <a:pt x="39937" y="2332383"/>
                </a:lnTo>
                <a:cubicBezTo>
                  <a:pt x="35520" y="1577009"/>
                  <a:pt x="31102" y="821635"/>
                  <a:pt x="26685" y="66261"/>
                </a:cubicBezTo>
                <a:lnTo>
                  <a:pt x="39937" y="331305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4901BDE2-0EB8-4048-B9FC-CAB51AAB4110}"/>
              </a:ext>
            </a:extLst>
          </p:cNvPr>
          <p:cNvSpPr/>
          <p:nvPr/>
        </p:nvSpPr>
        <p:spPr>
          <a:xfrm rot="18551166">
            <a:off x="886776" y="4457810"/>
            <a:ext cx="2963035" cy="566732"/>
          </a:xfrm>
          <a:prstGeom prst="arc">
            <a:avLst>
              <a:gd name="adj1" fmla="val 13361419"/>
              <a:gd name="adj2" fmla="val 0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0CD0C8-F0DF-485E-A1B8-1A1850AB1EB7}"/>
              </a:ext>
            </a:extLst>
          </p:cNvPr>
          <p:cNvSpPr txBox="1"/>
          <p:nvPr/>
        </p:nvSpPr>
        <p:spPr>
          <a:xfrm>
            <a:off x="1738234" y="4715114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7128F-9CA6-4CAB-89D1-F91C62E53256}"/>
                  </a:ext>
                </a:extLst>
              </p:cNvPr>
              <p:cNvSpPr txBox="1"/>
              <p:nvPr/>
            </p:nvSpPr>
            <p:spPr>
              <a:xfrm>
                <a:off x="1717592" y="5134605"/>
                <a:ext cx="5745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𝑾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7128F-9CA6-4CAB-89D1-F91C62E53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592" y="5134605"/>
                <a:ext cx="57459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4E39558-3C42-410C-A2F6-C98A7AA177BF}"/>
              </a:ext>
            </a:extLst>
          </p:cNvPr>
          <p:cNvCxnSpPr/>
          <p:nvPr/>
        </p:nvCxnSpPr>
        <p:spPr>
          <a:xfrm flipV="1">
            <a:off x="6831877" y="2713990"/>
            <a:ext cx="0" cy="31805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D3F6B8-2B56-41AD-A214-3814DBE94D9B}"/>
              </a:ext>
            </a:extLst>
          </p:cNvPr>
          <p:cNvCxnSpPr>
            <a:cxnSpLocks/>
          </p:cNvCxnSpPr>
          <p:nvPr/>
        </p:nvCxnSpPr>
        <p:spPr>
          <a:xfrm flipV="1">
            <a:off x="6831877" y="5894511"/>
            <a:ext cx="36576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0D5FFD-23B5-4A45-B03E-1DE83D89C5FD}"/>
                  </a:ext>
                </a:extLst>
              </p:cNvPr>
              <p:cNvSpPr txBox="1"/>
              <p:nvPr/>
            </p:nvSpPr>
            <p:spPr>
              <a:xfrm>
                <a:off x="6354800" y="2537792"/>
                <a:ext cx="47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0D5FFD-23B5-4A45-B03E-1DE83D89C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00" y="2537792"/>
                <a:ext cx="47707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AA8DE3-0C09-4091-A234-E1460CA2B5C1}"/>
                  </a:ext>
                </a:extLst>
              </p:cNvPr>
              <p:cNvSpPr txBox="1"/>
              <p:nvPr/>
            </p:nvSpPr>
            <p:spPr>
              <a:xfrm>
                <a:off x="10489477" y="5663678"/>
                <a:ext cx="4770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𝑽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AA8DE3-0C09-4091-A234-E1460CA2B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477" y="5663678"/>
                <a:ext cx="47707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E7853B4-BB23-4771-962F-8C9F07914D03}"/>
              </a:ext>
            </a:extLst>
          </p:cNvPr>
          <p:cNvCxnSpPr>
            <a:cxnSpLocks/>
          </p:cNvCxnSpPr>
          <p:nvPr/>
        </p:nvCxnSpPr>
        <p:spPr>
          <a:xfrm>
            <a:off x="8463610" y="4862422"/>
            <a:ext cx="548015" cy="2286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B8E343-C1C1-4F25-905B-A75D47B89B38}"/>
                  </a:ext>
                </a:extLst>
              </p:cNvPr>
              <p:cNvSpPr txBox="1"/>
              <p:nvPr/>
            </p:nvSpPr>
            <p:spPr>
              <a:xfrm>
                <a:off x="7037073" y="5894510"/>
                <a:ext cx="4108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B8E343-C1C1-4F25-905B-A75D47B89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073" y="5894510"/>
                <a:ext cx="410816" cy="461665"/>
              </a:xfrm>
              <a:prstGeom prst="rect">
                <a:avLst/>
              </a:prstGeom>
              <a:blipFill>
                <a:blip r:embed="rId11"/>
                <a:stretch>
                  <a:fillRect l="-2941" r="-20588" b="-1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64117F3-D283-4281-8D08-48D7CCF426A1}"/>
                  </a:ext>
                </a:extLst>
              </p:cNvPr>
              <p:cNvSpPr txBox="1"/>
              <p:nvPr/>
            </p:nvSpPr>
            <p:spPr>
              <a:xfrm>
                <a:off x="9396823" y="5921014"/>
                <a:ext cx="4108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64117F3-D283-4281-8D08-48D7CCF42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823" y="5921014"/>
                <a:ext cx="410816" cy="461665"/>
              </a:xfrm>
              <a:prstGeom prst="rect">
                <a:avLst/>
              </a:prstGeom>
              <a:blipFill>
                <a:blip r:embed="rId12"/>
                <a:stretch>
                  <a:fillRect l="-2941" r="-20588"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4EAD100-DEFE-4F95-933C-5227C761A8DD}"/>
              </a:ext>
            </a:extLst>
          </p:cNvPr>
          <p:cNvSpPr txBox="1"/>
          <p:nvPr/>
        </p:nvSpPr>
        <p:spPr>
          <a:xfrm>
            <a:off x="7435066" y="2771746"/>
            <a:ext cx="1212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Détente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304FDF-4CD0-4E60-9398-7861C860AEF8}"/>
              </a:ext>
            </a:extLst>
          </p:cNvPr>
          <p:cNvCxnSpPr/>
          <p:nvPr/>
        </p:nvCxnSpPr>
        <p:spPr>
          <a:xfrm>
            <a:off x="7255946" y="3469364"/>
            <a:ext cx="0" cy="241189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084D270-54F7-4C64-B531-0F5FAEA4624B}"/>
              </a:ext>
            </a:extLst>
          </p:cNvPr>
          <p:cNvSpPr/>
          <p:nvPr/>
        </p:nvSpPr>
        <p:spPr>
          <a:xfrm>
            <a:off x="7269412" y="3523749"/>
            <a:ext cx="2332819" cy="1877531"/>
          </a:xfrm>
          <a:custGeom>
            <a:avLst/>
            <a:gdLst>
              <a:gd name="connsiteX0" fmla="*/ 0 w 2332819"/>
              <a:gd name="connsiteY0" fmla="*/ 0 h 1877531"/>
              <a:gd name="connsiteX1" fmla="*/ 622853 w 2332819"/>
              <a:gd name="connsiteY1" fmla="*/ 1020417 h 1877531"/>
              <a:gd name="connsiteX2" fmla="*/ 2186609 w 2332819"/>
              <a:gd name="connsiteY2" fmla="*/ 1802295 h 1877531"/>
              <a:gd name="connsiteX3" fmla="*/ 2173357 w 2332819"/>
              <a:gd name="connsiteY3" fmla="*/ 1802295 h 187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2819" h="1877531">
                <a:moveTo>
                  <a:pt x="0" y="0"/>
                </a:moveTo>
                <a:cubicBezTo>
                  <a:pt x="129209" y="360017"/>
                  <a:pt x="258418" y="720035"/>
                  <a:pt x="622853" y="1020417"/>
                </a:cubicBezTo>
                <a:cubicBezTo>
                  <a:pt x="987288" y="1320799"/>
                  <a:pt x="2186609" y="1802295"/>
                  <a:pt x="2186609" y="1802295"/>
                </a:cubicBezTo>
                <a:cubicBezTo>
                  <a:pt x="2445026" y="1932608"/>
                  <a:pt x="2309191" y="1867451"/>
                  <a:pt x="2173357" y="1802295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DBE342C-F3AC-4052-8221-C8A31D6F37DA}"/>
              </a:ext>
            </a:extLst>
          </p:cNvPr>
          <p:cNvCxnSpPr>
            <a:cxnSpLocks/>
          </p:cNvCxnSpPr>
          <p:nvPr/>
        </p:nvCxnSpPr>
        <p:spPr>
          <a:xfrm>
            <a:off x="9615269" y="5360147"/>
            <a:ext cx="0" cy="53436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32FE74-BF4E-489A-8CB6-C61A16E370FB}"/>
                  </a:ext>
                </a:extLst>
              </p:cNvPr>
              <p:cNvSpPr txBox="1"/>
              <p:nvPr/>
            </p:nvSpPr>
            <p:spPr>
              <a:xfrm>
                <a:off x="9107721" y="3223725"/>
                <a:ext cx="2763512" cy="8815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𝒅𝑽</m:t>
                          </m:r>
                        </m:e>
                      </m:nary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32FE74-BF4E-489A-8CB6-C61A16E37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721" y="3223725"/>
                <a:ext cx="2763512" cy="8815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9CA22EE-0F1D-4F25-B970-DFEBFC1E329E}"/>
              </a:ext>
            </a:extLst>
          </p:cNvPr>
          <p:cNvSpPr/>
          <p:nvPr/>
        </p:nvSpPr>
        <p:spPr>
          <a:xfrm>
            <a:off x="7242481" y="3585320"/>
            <a:ext cx="2415592" cy="2282687"/>
          </a:xfrm>
          <a:custGeom>
            <a:avLst/>
            <a:gdLst>
              <a:gd name="connsiteX0" fmla="*/ 26685 w 2389053"/>
              <a:gd name="connsiteY0" fmla="*/ 0 h 2332383"/>
              <a:gd name="connsiteX1" fmla="*/ 26685 w 2389053"/>
              <a:gd name="connsiteY1" fmla="*/ 0 h 2332383"/>
              <a:gd name="connsiteX2" fmla="*/ 181 w 2389053"/>
              <a:gd name="connsiteY2" fmla="*/ 119270 h 2332383"/>
              <a:gd name="connsiteX3" fmla="*/ 13433 w 2389053"/>
              <a:gd name="connsiteY3" fmla="*/ 185531 h 2332383"/>
              <a:gd name="connsiteX4" fmla="*/ 53189 w 2389053"/>
              <a:gd name="connsiteY4" fmla="*/ 265044 h 2332383"/>
              <a:gd name="connsiteX5" fmla="*/ 79694 w 2389053"/>
              <a:gd name="connsiteY5" fmla="*/ 291548 h 2332383"/>
              <a:gd name="connsiteX6" fmla="*/ 92946 w 2389053"/>
              <a:gd name="connsiteY6" fmla="*/ 344557 h 2332383"/>
              <a:gd name="connsiteX7" fmla="*/ 132703 w 2389053"/>
              <a:gd name="connsiteY7" fmla="*/ 371061 h 2332383"/>
              <a:gd name="connsiteX8" fmla="*/ 212216 w 2389053"/>
              <a:gd name="connsiteY8" fmla="*/ 437322 h 2332383"/>
              <a:gd name="connsiteX9" fmla="*/ 291729 w 2389053"/>
              <a:gd name="connsiteY9" fmla="*/ 583096 h 2332383"/>
              <a:gd name="connsiteX10" fmla="*/ 331485 w 2389053"/>
              <a:gd name="connsiteY10" fmla="*/ 636105 h 2332383"/>
              <a:gd name="connsiteX11" fmla="*/ 371242 w 2389053"/>
              <a:gd name="connsiteY11" fmla="*/ 649357 h 2332383"/>
              <a:gd name="connsiteX12" fmla="*/ 384494 w 2389053"/>
              <a:gd name="connsiteY12" fmla="*/ 689113 h 2332383"/>
              <a:gd name="connsiteX13" fmla="*/ 450755 w 2389053"/>
              <a:gd name="connsiteY13" fmla="*/ 755374 h 2332383"/>
              <a:gd name="connsiteX14" fmla="*/ 490511 w 2389053"/>
              <a:gd name="connsiteY14" fmla="*/ 848139 h 2332383"/>
              <a:gd name="connsiteX15" fmla="*/ 530268 w 2389053"/>
              <a:gd name="connsiteY15" fmla="*/ 861392 h 2332383"/>
              <a:gd name="connsiteX16" fmla="*/ 570024 w 2389053"/>
              <a:gd name="connsiteY16" fmla="*/ 901148 h 2332383"/>
              <a:gd name="connsiteX17" fmla="*/ 583276 w 2389053"/>
              <a:gd name="connsiteY17" fmla="*/ 940905 h 2332383"/>
              <a:gd name="connsiteX18" fmla="*/ 623033 w 2389053"/>
              <a:gd name="connsiteY18" fmla="*/ 967409 h 2332383"/>
              <a:gd name="connsiteX19" fmla="*/ 689294 w 2389053"/>
              <a:gd name="connsiteY19" fmla="*/ 1033670 h 2332383"/>
              <a:gd name="connsiteX20" fmla="*/ 768807 w 2389053"/>
              <a:gd name="connsiteY20" fmla="*/ 1099931 h 2332383"/>
              <a:gd name="connsiteX21" fmla="*/ 808563 w 2389053"/>
              <a:gd name="connsiteY21" fmla="*/ 1113183 h 2332383"/>
              <a:gd name="connsiteX22" fmla="*/ 874824 w 2389053"/>
              <a:gd name="connsiteY22" fmla="*/ 1139687 h 2332383"/>
              <a:gd name="connsiteX23" fmla="*/ 914581 w 2389053"/>
              <a:gd name="connsiteY23" fmla="*/ 1166192 h 2332383"/>
              <a:gd name="connsiteX24" fmla="*/ 967589 w 2389053"/>
              <a:gd name="connsiteY24" fmla="*/ 1192696 h 2332383"/>
              <a:gd name="connsiteX25" fmla="*/ 1020598 w 2389053"/>
              <a:gd name="connsiteY25" fmla="*/ 1232453 h 2332383"/>
              <a:gd name="connsiteX26" fmla="*/ 1113363 w 2389053"/>
              <a:gd name="connsiteY26" fmla="*/ 1258957 h 2332383"/>
              <a:gd name="connsiteX27" fmla="*/ 1153120 w 2389053"/>
              <a:gd name="connsiteY27" fmla="*/ 1285461 h 2332383"/>
              <a:gd name="connsiteX28" fmla="*/ 1179624 w 2389053"/>
              <a:gd name="connsiteY28" fmla="*/ 1311966 h 2332383"/>
              <a:gd name="connsiteX29" fmla="*/ 1285642 w 2389053"/>
              <a:gd name="connsiteY29" fmla="*/ 1364974 h 2332383"/>
              <a:gd name="connsiteX30" fmla="*/ 1418163 w 2389053"/>
              <a:gd name="connsiteY30" fmla="*/ 1457739 h 2332383"/>
              <a:gd name="connsiteX31" fmla="*/ 1563937 w 2389053"/>
              <a:gd name="connsiteY31" fmla="*/ 1524000 h 2332383"/>
              <a:gd name="connsiteX32" fmla="*/ 1669955 w 2389053"/>
              <a:gd name="connsiteY32" fmla="*/ 1603513 h 2332383"/>
              <a:gd name="connsiteX33" fmla="*/ 1736216 w 2389053"/>
              <a:gd name="connsiteY33" fmla="*/ 1630018 h 2332383"/>
              <a:gd name="connsiteX34" fmla="*/ 1842233 w 2389053"/>
              <a:gd name="connsiteY34" fmla="*/ 1696279 h 2332383"/>
              <a:gd name="connsiteX35" fmla="*/ 1934998 w 2389053"/>
              <a:gd name="connsiteY35" fmla="*/ 1762539 h 2332383"/>
              <a:gd name="connsiteX36" fmla="*/ 2133781 w 2389053"/>
              <a:gd name="connsiteY36" fmla="*/ 1789044 h 2332383"/>
              <a:gd name="connsiteX37" fmla="*/ 2253050 w 2389053"/>
              <a:gd name="connsiteY37" fmla="*/ 1855305 h 2332383"/>
              <a:gd name="connsiteX38" fmla="*/ 2385572 w 2389053"/>
              <a:gd name="connsiteY38" fmla="*/ 1868557 h 2332383"/>
              <a:gd name="connsiteX39" fmla="*/ 2332563 w 2389053"/>
              <a:gd name="connsiteY39" fmla="*/ 1868557 h 2332383"/>
              <a:gd name="connsiteX40" fmla="*/ 2319311 w 2389053"/>
              <a:gd name="connsiteY40" fmla="*/ 1868557 h 2332383"/>
              <a:gd name="connsiteX41" fmla="*/ 2319311 w 2389053"/>
              <a:gd name="connsiteY41" fmla="*/ 2186609 h 2332383"/>
              <a:gd name="connsiteX42" fmla="*/ 2306059 w 2389053"/>
              <a:gd name="connsiteY42" fmla="*/ 2266122 h 2332383"/>
              <a:gd name="connsiteX43" fmla="*/ 2332563 w 2389053"/>
              <a:gd name="connsiteY43" fmla="*/ 2319131 h 2332383"/>
              <a:gd name="connsiteX44" fmla="*/ 39937 w 2389053"/>
              <a:gd name="connsiteY44" fmla="*/ 2332383 h 2332383"/>
              <a:gd name="connsiteX45" fmla="*/ 26685 w 2389053"/>
              <a:gd name="connsiteY45" fmla="*/ 66261 h 2332383"/>
              <a:gd name="connsiteX46" fmla="*/ 39937 w 2389053"/>
              <a:gd name="connsiteY46" fmla="*/ 331305 h 233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389053" h="2332383">
                <a:moveTo>
                  <a:pt x="26685" y="0"/>
                </a:moveTo>
                <a:lnTo>
                  <a:pt x="26685" y="0"/>
                </a:lnTo>
                <a:cubicBezTo>
                  <a:pt x="17850" y="39757"/>
                  <a:pt x="3083" y="78647"/>
                  <a:pt x="181" y="119270"/>
                </a:cubicBezTo>
                <a:cubicBezTo>
                  <a:pt x="-1424" y="141737"/>
                  <a:pt x="7970" y="163679"/>
                  <a:pt x="13433" y="185531"/>
                </a:cubicBezTo>
                <a:cubicBezTo>
                  <a:pt x="22340" y="221158"/>
                  <a:pt x="29634" y="235600"/>
                  <a:pt x="53189" y="265044"/>
                </a:cubicBezTo>
                <a:cubicBezTo>
                  <a:pt x="60994" y="274800"/>
                  <a:pt x="70859" y="282713"/>
                  <a:pt x="79694" y="291548"/>
                </a:cubicBezTo>
                <a:cubicBezTo>
                  <a:pt x="84111" y="309218"/>
                  <a:pt x="82843" y="329403"/>
                  <a:pt x="92946" y="344557"/>
                </a:cubicBezTo>
                <a:cubicBezTo>
                  <a:pt x="101781" y="357809"/>
                  <a:pt x="121441" y="359799"/>
                  <a:pt x="132703" y="371061"/>
                </a:cubicBezTo>
                <a:cubicBezTo>
                  <a:pt x="207629" y="445987"/>
                  <a:pt x="98493" y="380461"/>
                  <a:pt x="212216" y="437322"/>
                </a:cubicBezTo>
                <a:cubicBezTo>
                  <a:pt x="252333" y="517558"/>
                  <a:pt x="251375" y="526601"/>
                  <a:pt x="291729" y="583096"/>
                </a:cubicBezTo>
                <a:cubicBezTo>
                  <a:pt x="304567" y="601069"/>
                  <a:pt x="314517" y="621965"/>
                  <a:pt x="331485" y="636105"/>
                </a:cubicBezTo>
                <a:cubicBezTo>
                  <a:pt x="342216" y="645048"/>
                  <a:pt x="357990" y="644940"/>
                  <a:pt x="371242" y="649357"/>
                </a:cubicBezTo>
                <a:cubicBezTo>
                  <a:pt x="375659" y="662609"/>
                  <a:pt x="376113" y="677938"/>
                  <a:pt x="384494" y="689113"/>
                </a:cubicBezTo>
                <a:cubicBezTo>
                  <a:pt x="403235" y="714102"/>
                  <a:pt x="450755" y="755374"/>
                  <a:pt x="450755" y="755374"/>
                </a:cubicBezTo>
                <a:cubicBezTo>
                  <a:pt x="458675" y="779134"/>
                  <a:pt x="474135" y="831763"/>
                  <a:pt x="490511" y="848139"/>
                </a:cubicBezTo>
                <a:cubicBezTo>
                  <a:pt x="500389" y="858017"/>
                  <a:pt x="517016" y="856974"/>
                  <a:pt x="530268" y="861392"/>
                </a:cubicBezTo>
                <a:cubicBezTo>
                  <a:pt x="543520" y="874644"/>
                  <a:pt x="559628" y="885554"/>
                  <a:pt x="570024" y="901148"/>
                </a:cubicBezTo>
                <a:cubicBezTo>
                  <a:pt x="577773" y="912771"/>
                  <a:pt x="574550" y="929997"/>
                  <a:pt x="583276" y="940905"/>
                </a:cubicBezTo>
                <a:cubicBezTo>
                  <a:pt x="593226" y="953342"/>
                  <a:pt x="609781" y="958574"/>
                  <a:pt x="623033" y="967409"/>
                </a:cubicBezTo>
                <a:cubicBezTo>
                  <a:pt x="671624" y="1040297"/>
                  <a:pt x="623033" y="978453"/>
                  <a:pt x="689294" y="1033670"/>
                </a:cubicBezTo>
                <a:cubicBezTo>
                  <a:pt x="733258" y="1070306"/>
                  <a:pt x="719452" y="1075253"/>
                  <a:pt x="768807" y="1099931"/>
                </a:cubicBezTo>
                <a:cubicBezTo>
                  <a:pt x="781301" y="1106178"/>
                  <a:pt x="795484" y="1108278"/>
                  <a:pt x="808563" y="1113183"/>
                </a:cubicBezTo>
                <a:cubicBezTo>
                  <a:pt x="830837" y="1121536"/>
                  <a:pt x="853547" y="1129049"/>
                  <a:pt x="874824" y="1139687"/>
                </a:cubicBezTo>
                <a:cubicBezTo>
                  <a:pt x="889070" y="1146810"/>
                  <a:pt x="900752" y="1158290"/>
                  <a:pt x="914581" y="1166192"/>
                </a:cubicBezTo>
                <a:cubicBezTo>
                  <a:pt x="931733" y="1175993"/>
                  <a:pt x="950837" y="1182226"/>
                  <a:pt x="967589" y="1192696"/>
                </a:cubicBezTo>
                <a:cubicBezTo>
                  <a:pt x="986319" y="1204402"/>
                  <a:pt x="1001421" y="1221495"/>
                  <a:pt x="1020598" y="1232453"/>
                </a:cubicBezTo>
                <a:cubicBezTo>
                  <a:pt x="1035384" y="1240902"/>
                  <a:pt x="1101889" y="1256088"/>
                  <a:pt x="1113363" y="1258957"/>
                </a:cubicBezTo>
                <a:cubicBezTo>
                  <a:pt x="1126615" y="1267792"/>
                  <a:pt x="1140683" y="1275511"/>
                  <a:pt x="1153120" y="1285461"/>
                </a:cubicBezTo>
                <a:cubicBezTo>
                  <a:pt x="1162876" y="1293266"/>
                  <a:pt x="1168910" y="1305538"/>
                  <a:pt x="1179624" y="1311966"/>
                </a:cubicBezTo>
                <a:cubicBezTo>
                  <a:pt x="1213504" y="1332294"/>
                  <a:pt x="1285642" y="1364974"/>
                  <a:pt x="1285642" y="1364974"/>
                </a:cubicBezTo>
                <a:cubicBezTo>
                  <a:pt x="1326319" y="1405652"/>
                  <a:pt x="1352563" y="1435871"/>
                  <a:pt x="1418163" y="1457739"/>
                </a:cubicBezTo>
                <a:cubicBezTo>
                  <a:pt x="1463976" y="1473011"/>
                  <a:pt x="1534312" y="1494375"/>
                  <a:pt x="1563937" y="1524000"/>
                </a:cubicBezTo>
                <a:cubicBezTo>
                  <a:pt x="1597293" y="1557356"/>
                  <a:pt x="1620003" y="1583532"/>
                  <a:pt x="1669955" y="1603513"/>
                </a:cubicBezTo>
                <a:cubicBezTo>
                  <a:pt x="1692042" y="1612348"/>
                  <a:pt x="1715271" y="1618740"/>
                  <a:pt x="1736216" y="1630018"/>
                </a:cubicBezTo>
                <a:cubicBezTo>
                  <a:pt x="1772908" y="1649776"/>
                  <a:pt x="1812765" y="1666811"/>
                  <a:pt x="1842233" y="1696279"/>
                </a:cubicBezTo>
                <a:cubicBezTo>
                  <a:pt x="1882721" y="1736767"/>
                  <a:pt x="1879179" y="1741607"/>
                  <a:pt x="1934998" y="1762539"/>
                </a:cubicBezTo>
                <a:cubicBezTo>
                  <a:pt x="1991195" y="1783613"/>
                  <a:pt x="2088131" y="1784894"/>
                  <a:pt x="2133781" y="1789044"/>
                </a:cubicBezTo>
                <a:cubicBezTo>
                  <a:pt x="2169067" y="1812568"/>
                  <a:pt x="2207566" y="1848308"/>
                  <a:pt x="2253050" y="1855305"/>
                </a:cubicBezTo>
                <a:cubicBezTo>
                  <a:pt x="2296928" y="1862055"/>
                  <a:pt x="2341782" y="1861259"/>
                  <a:pt x="2385572" y="1868557"/>
                </a:cubicBezTo>
                <a:cubicBezTo>
                  <a:pt x="2403001" y="1871462"/>
                  <a:pt x="2350233" y="1868557"/>
                  <a:pt x="2332563" y="1868557"/>
                </a:cubicBezTo>
                <a:lnTo>
                  <a:pt x="2319311" y="1868557"/>
                </a:lnTo>
                <a:cubicBezTo>
                  <a:pt x="2335319" y="2044653"/>
                  <a:pt x="2339207" y="1997599"/>
                  <a:pt x="2319311" y="2186609"/>
                </a:cubicBezTo>
                <a:cubicBezTo>
                  <a:pt x="2316498" y="2213331"/>
                  <a:pt x="2306059" y="2266122"/>
                  <a:pt x="2306059" y="2266122"/>
                </a:cubicBezTo>
                <a:lnTo>
                  <a:pt x="2332563" y="2319131"/>
                </a:lnTo>
                <a:lnTo>
                  <a:pt x="39937" y="2332383"/>
                </a:lnTo>
                <a:cubicBezTo>
                  <a:pt x="35520" y="1577009"/>
                  <a:pt x="31102" y="821635"/>
                  <a:pt x="26685" y="66261"/>
                </a:cubicBezTo>
                <a:lnTo>
                  <a:pt x="39937" y="331305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A9908B7B-6ED3-4687-81C8-9A50F48176B6}"/>
              </a:ext>
            </a:extLst>
          </p:cNvPr>
          <p:cNvSpPr/>
          <p:nvPr/>
        </p:nvSpPr>
        <p:spPr>
          <a:xfrm rot="18551166">
            <a:off x="6724741" y="4614130"/>
            <a:ext cx="2963035" cy="566732"/>
          </a:xfrm>
          <a:prstGeom prst="arc">
            <a:avLst>
              <a:gd name="adj1" fmla="val 13361419"/>
              <a:gd name="adj2" fmla="val 0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D5FE59-2070-45C8-B6B1-799F58501054}"/>
              </a:ext>
            </a:extLst>
          </p:cNvPr>
          <p:cNvSpPr txBox="1"/>
          <p:nvPr/>
        </p:nvSpPr>
        <p:spPr>
          <a:xfrm>
            <a:off x="7576199" y="4871434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D426A1-A488-47A3-A5F6-C91130659044}"/>
                  </a:ext>
                </a:extLst>
              </p:cNvPr>
              <p:cNvSpPr txBox="1"/>
              <p:nvPr/>
            </p:nvSpPr>
            <p:spPr>
              <a:xfrm>
                <a:off x="7555557" y="5290925"/>
                <a:ext cx="5745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D426A1-A488-47A3-A5F6-C91130659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557" y="5290925"/>
                <a:ext cx="574598" cy="461665"/>
              </a:xfrm>
              <a:prstGeom prst="rect">
                <a:avLst/>
              </a:prstGeom>
              <a:blipFill>
                <a:blip r:embed="rId14"/>
                <a:stretch>
                  <a:fillRect r="-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7513945-4F8A-4704-B3E2-3F37B50C0CD9}"/>
              </a:ext>
            </a:extLst>
          </p:cNvPr>
          <p:cNvCxnSpPr/>
          <p:nvPr/>
        </p:nvCxnSpPr>
        <p:spPr>
          <a:xfrm>
            <a:off x="6188765" y="2381472"/>
            <a:ext cx="0" cy="41651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657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3">
            <a:extLst>
              <a:ext uri="{FF2B5EF4-FFF2-40B4-BE49-F238E27FC236}">
                <a16:creationId xmlns:a16="http://schemas.microsoft.com/office/drawing/2014/main" id="{99AEBC86-38EC-4D3D-B4B3-1794C5FB87F5}"/>
              </a:ext>
            </a:extLst>
          </p:cNvPr>
          <p:cNvSpPr txBox="1"/>
          <p:nvPr/>
        </p:nvSpPr>
        <p:spPr>
          <a:xfrm>
            <a:off x="482493" y="226533"/>
            <a:ext cx="4321248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Systèmes décrivant des cycles</a:t>
            </a:r>
          </a:p>
        </p:txBody>
      </p:sp>
      <p:cxnSp>
        <p:nvCxnSpPr>
          <p:cNvPr id="50" name="Connecteur droit avec flèche 6">
            <a:extLst>
              <a:ext uri="{FF2B5EF4-FFF2-40B4-BE49-F238E27FC236}">
                <a16:creationId xmlns:a16="http://schemas.microsoft.com/office/drawing/2014/main" id="{DF573E72-A9E4-4146-AF9E-33DA2ACDC450}"/>
              </a:ext>
            </a:extLst>
          </p:cNvPr>
          <p:cNvCxnSpPr>
            <a:cxnSpLocks/>
          </p:cNvCxnSpPr>
          <p:nvPr/>
        </p:nvCxnSpPr>
        <p:spPr>
          <a:xfrm flipV="1">
            <a:off x="843847" y="2320930"/>
            <a:ext cx="0" cy="1777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7">
            <a:extLst>
              <a:ext uri="{FF2B5EF4-FFF2-40B4-BE49-F238E27FC236}">
                <a16:creationId xmlns:a16="http://schemas.microsoft.com/office/drawing/2014/main" id="{E023CA19-442E-49E2-B25E-E1CE1958AA21}"/>
              </a:ext>
            </a:extLst>
          </p:cNvPr>
          <p:cNvCxnSpPr>
            <a:cxnSpLocks/>
          </p:cNvCxnSpPr>
          <p:nvPr/>
        </p:nvCxnSpPr>
        <p:spPr>
          <a:xfrm>
            <a:off x="843847" y="4098215"/>
            <a:ext cx="19833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11">
            <a:extLst>
              <a:ext uri="{FF2B5EF4-FFF2-40B4-BE49-F238E27FC236}">
                <a16:creationId xmlns:a16="http://schemas.microsoft.com/office/drawing/2014/main" id="{6C857208-CCF5-40CD-AFD0-0810D229D0CF}"/>
              </a:ext>
            </a:extLst>
          </p:cNvPr>
          <p:cNvSpPr txBox="1"/>
          <p:nvPr/>
        </p:nvSpPr>
        <p:spPr>
          <a:xfrm>
            <a:off x="2794309" y="385535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i="1" dirty="0"/>
              <a:t>V</a:t>
            </a:r>
          </a:p>
        </p:txBody>
      </p:sp>
      <p:sp>
        <p:nvSpPr>
          <p:cNvPr id="54" name="Forme libre 12">
            <a:extLst>
              <a:ext uri="{FF2B5EF4-FFF2-40B4-BE49-F238E27FC236}">
                <a16:creationId xmlns:a16="http://schemas.microsoft.com/office/drawing/2014/main" id="{D26F75CC-7B0B-433A-91FD-64A04BF4DCC1}"/>
              </a:ext>
            </a:extLst>
          </p:cNvPr>
          <p:cNvSpPr/>
          <p:nvPr/>
        </p:nvSpPr>
        <p:spPr>
          <a:xfrm>
            <a:off x="1294607" y="2833170"/>
            <a:ext cx="1146219" cy="814284"/>
          </a:xfrm>
          <a:custGeom>
            <a:avLst/>
            <a:gdLst>
              <a:gd name="connsiteX0" fmla="*/ 425002 w 1146219"/>
              <a:gd name="connsiteY0" fmla="*/ 762768 h 814284"/>
              <a:gd name="connsiteX1" fmla="*/ 296214 w 1146219"/>
              <a:gd name="connsiteY1" fmla="*/ 749890 h 814284"/>
              <a:gd name="connsiteX2" fmla="*/ 218940 w 1146219"/>
              <a:gd name="connsiteY2" fmla="*/ 724132 h 814284"/>
              <a:gd name="connsiteX3" fmla="*/ 180304 w 1146219"/>
              <a:gd name="connsiteY3" fmla="*/ 698374 h 814284"/>
              <a:gd name="connsiteX4" fmla="*/ 154546 w 1146219"/>
              <a:gd name="connsiteY4" fmla="*/ 659737 h 814284"/>
              <a:gd name="connsiteX5" fmla="*/ 115909 w 1146219"/>
              <a:gd name="connsiteY5" fmla="*/ 621101 h 814284"/>
              <a:gd name="connsiteX6" fmla="*/ 64394 w 1146219"/>
              <a:gd name="connsiteY6" fmla="*/ 543828 h 814284"/>
              <a:gd name="connsiteX7" fmla="*/ 38636 w 1146219"/>
              <a:gd name="connsiteY7" fmla="*/ 466554 h 814284"/>
              <a:gd name="connsiteX8" fmla="*/ 12878 w 1146219"/>
              <a:gd name="connsiteY8" fmla="*/ 427918 h 814284"/>
              <a:gd name="connsiteX9" fmla="*/ 0 w 1146219"/>
              <a:gd name="connsiteY9" fmla="*/ 376402 h 814284"/>
              <a:gd name="connsiteX10" fmla="*/ 12878 w 1146219"/>
              <a:gd name="connsiteY10" fmla="*/ 247614 h 814284"/>
              <a:gd name="connsiteX11" fmla="*/ 25757 w 1146219"/>
              <a:gd name="connsiteY11" fmla="*/ 208977 h 814284"/>
              <a:gd name="connsiteX12" fmla="*/ 141667 w 1146219"/>
              <a:gd name="connsiteY12" fmla="*/ 118825 h 814284"/>
              <a:gd name="connsiteX13" fmla="*/ 180304 w 1146219"/>
              <a:gd name="connsiteY13" fmla="*/ 93067 h 814284"/>
              <a:gd name="connsiteX14" fmla="*/ 257577 w 1146219"/>
              <a:gd name="connsiteY14" fmla="*/ 41552 h 814284"/>
              <a:gd name="connsiteX15" fmla="*/ 296214 w 1146219"/>
              <a:gd name="connsiteY15" fmla="*/ 15794 h 814284"/>
              <a:gd name="connsiteX16" fmla="*/ 579549 w 1146219"/>
              <a:gd name="connsiteY16" fmla="*/ 15794 h 814284"/>
              <a:gd name="connsiteX17" fmla="*/ 695459 w 1146219"/>
              <a:gd name="connsiteY17" fmla="*/ 41552 h 814284"/>
              <a:gd name="connsiteX18" fmla="*/ 772732 w 1146219"/>
              <a:gd name="connsiteY18" fmla="*/ 67309 h 814284"/>
              <a:gd name="connsiteX19" fmla="*/ 850005 w 1146219"/>
              <a:gd name="connsiteY19" fmla="*/ 118825 h 814284"/>
              <a:gd name="connsiteX20" fmla="*/ 914400 w 1146219"/>
              <a:gd name="connsiteY20" fmla="*/ 247614 h 814284"/>
              <a:gd name="connsiteX21" fmla="*/ 927278 w 1146219"/>
              <a:gd name="connsiteY21" fmla="*/ 415039 h 814284"/>
              <a:gd name="connsiteX22" fmla="*/ 978794 w 1146219"/>
              <a:gd name="connsiteY22" fmla="*/ 492312 h 814284"/>
              <a:gd name="connsiteX23" fmla="*/ 1094704 w 1146219"/>
              <a:gd name="connsiteY23" fmla="*/ 556706 h 814284"/>
              <a:gd name="connsiteX24" fmla="*/ 1120462 w 1146219"/>
              <a:gd name="connsiteY24" fmla="*/ 595343 h 814284"/>
              <a:gd name="connsiteX25" fmla="*/ 1146219 w 1146219"/>
              <a:gd name="connsiteY25" fmla="*/ 672616 h 814284"/>
              <a:gd name="connsiteX26" fmla="*/ 1133340 w 1146219"/>
              <a:gd name="connsiteY26" fmla="*/ 724132 h 814284"/>
              <a:gd name="connsiteX27" fmla="*/ 1094704 w 1146219"/>
              <a:gd name="connsiteY27" fmla="*/ 737011 h 814284"/>
              <a:gd name="connsiteX28" fmla="*/ 1056067 w 1146219"/>
              <a:gd name="connsiteY28" fmla="*/ 762768 h 814284"/>
              <a:gd name="connsiteX29" fmla="*/ 965915 w 1146219"/>
              <a:gd name="connsiteY29" fmla="*/ 788526 h 814284"/>
              <a:gd name="connsiteX30" fmla="*/ 850005 w 1146219"/>
              <a:gd name="connsiteY30" fmla="*/ 814284 h 814284"/>
              <a:gd name="connsiteX31" fmla="*/ 605307 w 1146219"/>
              <a:gd name="connsiteY31" fmla="*/ 801405 h 814284"/>
              <a:gd name="connsiteX32" fmla="*/ 540912 w 1146219"/>
              <a:gd name="connsiteY32" fmla="*/ 788526 h 814284"/>
              <a:gd name="connsiteX33" fmla="*/ 450760 w 1146219"/>
              <a:gd name="connsiteY33" fmla="*/ 762768 h 814284"/>
              <a:gd name="connsiteX34" fmla="*/ 425002 w 1146219"/>
              <a:gd name="connsiteY34" fmla="*/ 762768 h 81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146219" h="814284">
                <a:moveTo>
                  <a:pt x="425002" y="762768"/>
                </a:moveTo>
                <a:cubicBezTo>
                  <a:pt x="399244" y="760622"/>
                  <a:pt x="338618" y="757841"/>
                  <a:pt x="296214" y="749890"/>
                </a:cubicBezTo>
                <a:cubicBezTo>
                  <a:pt x="269528" y="744886"/>
                  <a:pt x="218940" y="724132"/>
                  <a:pt x="218940" y="724132"/>
                </a:cubicBezTo>
                <a:cubicBezTo>
                  <a:pt x="206061" y="715546"/>
                  <a:pt x="191249" y="709319"/>
                  <a:pt x="180304" y="698374"/>
                </a:cubicBezTo>
                <a:cubicBezTo>
                  <a:pt x="169359" y="687429"/>
                  <a:pt x="164455" y="671628"/>
                  <a:pt x="154546" y="659737"/>
                </a:cubicBezTo>
                <a:cubicBezTo>
                  <a:pt x="142886" y="645745"/>
                  <a:pt x="128788" y="633980"/>
                  <a:pt x="115909" y="621101"/>
                </a:cubicBezTo>
                <a:cubicBezTo>
                  <a:pt x="73307" y="493286"/>
                  <a:pt x="144782" y="688525"/>
                  <a:pt x="64394" y="543828"/>
                </a:cubicBezTo>
                <a:cubicBezTo>
                  <a:pt x="51208" y="520094"/>
                  <a:pt x="47222" y="492312"/>
                  <a:pt x="38636" y="466554"/>
                </a:cubicBezTo>
                <a:cubicBezTo>
                  <a:pt x="33741" y="451870"/>
                  <a:pt x="21464" y="440797"/>
                  <a:pt x="12878" y="427918"/>
                </a:cubicBezTo>
                <a:cubicBezTo>
                  <a:pt x="8585" y="410746"/>
                  <a:pt x="0" y="394102"/>
                  <a:pt x="0" y="376402"/>
                </a:cubicBezTo>
                <a:cubicBezTo>
                  <a:pt x="0" y="333259"/>
                  <a:pt x="6318" y="290256"/>
                  <a:pt x="12878" y="247614"/>
                </a:cubicBezTo>
                <a:cubicBezTo>
                  <a:pt x="14942" y="234196"/>
                  <a:pt x="18227" y="220273"/>
                  <a:pt x="25757" y="208977"/>
                </a:cubicBezTo>
                <a:cubicBezTo>
                  <a:pt x="49968" y="172661"/>
                  <a:pt x="110963" y="139294"/>
                  <a:pt x="141667" y="118825"/>
                </a:cubicBezTo>
                <a:cubicBezTo>
                  <a:pt x="154546" y="110239"/>
                  <a:pt x="169359" y="104012"/>
                  <a:pt x="180304" y="93067"/>
                </a:cubicBezTo>
                <a:cubicBezTo>
                  <a:pt x="228539" y="44831"/>
                  <a:pt x="201661" y="60189"/>
                  <a:pt x="257577" y="41552"/>
                </a:cubicBezTo>
                <a:cubicBezTo>
                  <a:pt x="270456" y="32966"/>
                  <a:pt x="281987" y="21891"/>
                  <a:pt x="296214" y="15794"/>
                </a:cubicBezTo>
                <a:cubicBezTo>
                  <a:pt x="376116" y="-18450"/>
                  <a:pt x="534226" y="13276"/>
                  <a:pt x="579549" y="15794"/>
                </a:cubicBezTo>
                <a:cubicBezTo>
                  <a:pt x="690089" y="52641"/>
                  <a:pt x="514141" y="-3777"/>
                  <a:pt x="695459" y="41552"/>
                </a:cubicBezTo>
                <a:cubicBezTo>
                  <a:pt x="721799" y="48137"/>
                  <a:pt x="750141" y="52248"/>
                  <a:pt x="772732" y="67309"/>
                </a:cubicBezTo>
                <a:lnTo>
                  <a:pt x="850005" y="118825"/>
                </a:lnTo>
                <a:cubicBezTo>
                  <a:pt x="911340" y="210826"/>
                  <a:pt x="894013" y="166065"/>
                  <a:pt x="914400" y="247614"/>
                </a:cubicBezTo>
                <a:cubicBezTo>
                  <a:pt x="918693" y="303422"/>
                  <a:pt x="920336" y="359498"/>
                  <a:pt x="927278" y="415039"/>
                </a:cubicBezTo>
                <a:cubicBezTo>
                  <a:pt x="931907" y="452069"/>
                  <a:pt x="949353" y="469414"/>
                  <a:pt x="978794" y="492312"/>
                </a:cubicBezTo>
                <a:cubicBezTo>
                  <a:pt x="1045224" y="543979"/>
                  <a:pt x="1036407" y="537275"/>
                  <a:pt x="1094704" y="556706"/>
                </a:cubicBezTo>
                <a:cubicBezTo>
                  <a:pt x="1103290" y="569585"/>
                  <a:pt x="1114176" y="581198"/>
                  <a:pt x="1120462" y="595343"/>
                </a:cubicBezTo>
                <a:cubicBezTo>
                  <a:pt x="1131489" y="620154"/>
                  <a:pt x="1146219" y="672616"/>
                  <a:pt x="1146219" y="672616"/>
                </a:cubicBezTo>
                <a:cubicBezTo>
                  <a:pt x="1141926" y="689788"/>
                  <a:pt x="1144397" y="710310"/>
                  <a:pt x="1133340" y="724132"/>
                </a:cubicBezTo>
                <a:cubicBezTo>
                  <a:pt x="1124860" y="734733"/>
                  <a:pt x="1106846" y="730940"/>
                  <a:pt x="1094704" y="737011"/>
                </a:cubicBezTo>
                <a:cubicBezTo>
                  <a:pt x="1080860" y="743933"/>
                  <a:pt x="1069911" y="755846"/>
                  <a:pt x="1056067" y="762768"/>
                </a:cubicBezTo>
                <a:cubicBezTo>
                  <a:pt x="1038855" y="771374"/>
                  <a:pt x="980773" y="785224"/>
                  <a:pt x="965915" y="788526"/>
                </a:cubicBezTo>
                <a:cubicBezTo>
                  <a:pt x="818763" y="821227"/>
                  <a:pt x="975642" y="782875"/>
                  <a:pt x="850005" y="814284"/>
                </a:cubicBezTo>
                <a:cubicBezTo>
                  <a:pt x="768439" y="809991"/>
                  <a:pt x="686704" y="808188"/>
                  <a:pt x="605307" y="801405"/>
                </a:cubicBezTo>
                <a:cubicBezTo>
                  <a:pt x="583493" y="799587"/>
                  <a:pt x="562148" y="793835"/>
                  <a:pt x="540912" y="788526"/>
                </a:cubicBezTo>
                <a:cubicBezTo>
                  <a:pt x="442710" y="763975"/>
                  <a:pt x="571218" y="786860"/>
                  <a:pt x="450760" y="762768"/>
                </a:cubicBezTo>
                <a:cubicBezTo>
                  <a:pt x="446550" y="761926"/>
                  <a:pt x="450760" y="764914"/>
                  <a:pt x="425002" y="762768"/>
                </a:cubicBezTo>
                <a:close/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55" name="Connecteur droit avec flèche 15">
            <a:extLst>
              <a:ext uri="{FF2B5EF4-FFF2-40B4-BE49-F238E27FC236}">
                <a16:creationId xmlns:a16="http://schemas.microsoft.com/office/drawing/2014/main" id="{C0DF8195-F1A8-4AED-8572-2F02DCEEC49C}"/>
              </a:ext>
            </a:extLst>
          </p:cNvPr>
          <p:cNvCxnSpPr>
            <a:cxnSpLocks/>
          </p:cNvCxnSpPr>
          <p:nvPr/>
        </p:nvCxnSpPr>
        <p:spPr>
          <a:xfrm flipV="1">
            <a:off x="9354599" y="2278125"/>
            <a:ext cx="0" cy="1777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16">
            <a:extLst>
              <a:ext uri="{FF2B5EF4-FFF2-40B4-BE49-F238E27FC236}">
                <a16:creationId xmlns:a16="http://schemas.microsoft.com/office/drawing/2014/main" id="{C8182222-FDAC-4CB7-BBCF-6DBA8F2FE844}"/>
              </a:ext>
            </a:extLst>
          </p:cNvPr>
          <p:cNvCxnSpPr>
            <a:cxnSpLocks/>
          </p:cNvCxnSpPr>
          <p:nvPr/>
        </p:nvCxnSpPr>
        <p:spPr>
          <a:xfrm>
            <a:off x="9354599" y="4055410"/>
            <a:ext cx="19833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orme libre 19">
            <a:extLst>
              <a:ext uri="{FF2B5EF4-FFF2-40B4-BE49-F238E27FC236}">
                <a16:creationId xmlns:a16="http://schemas.microsoft.com/office/drawing/2014/main" id="{5FEEC311-6D2D-4BF6-BEF8-97FE78348942}"/>
              </a:ext>
            </a:extLst>
          </p:cNvPr>
          <p:cNvSpPr/>
          <p:nvPr/>
        </p:nvSpPr>
        <p:spPr>
          <a:xfrm>
            <a:off x="9751172" y="2802590"/>
            <a:ext cx="1146219" cy="814284"/>
          </a:xfrm>
          <a:custGeom>
            <a:avLst/>
            <a:gdLst>
              <a:gd name="connsiteX0" fmla="*/ 425002 w 1146219"/>
              <a:gd name="connsiteY0" fmla="*/ 762768 h 814284"/>
              <a:gd name="connsiteX1" fmla="*/ 296214 w 1146219"/>
              <a:gd name="connsiteY1" fmla="*/ 749890 h 814284"/>
              <a:gd name="connsiteX2" fmla="*/ 218940 w 1146219"/>
              <a:gd name="connsiteY2" fmla="*/ 724132 h 814284"/>
              <a:gd name="connsiteX3" fmla="*/ 180304 w 1146219"/>
              <a:gd name="connsiteY3" fmla="*/ 698374 h 814284"/>
              <a:gd name="connsiteX4" fmla="*/ 154546 w 1146219"/>
              <a:gd name="connsiteY4" fmla="*/ 659737 h 814284"/>
              <a:gd name="connsiteX5" fmla="*/ 115909 w 1146219"/>
              <a:gd name="connsiteY5" fmla="*/ 621101 h 814284"/>
              <a:gd name="connsiteX6" fmla="*/ 64394 w 1146219"/>
              <a:gd name="connsiteY6" fmla="*/ 543828 h 814284"/>
              <a:gd name="connsiteX7" fmla="*/ 38636 w 1146219"/>
              <a:gd name="connsiteY7" fmla="*/ 466554 h 814284"/>
              <a:gd name="connsiteX8" fmla="*/ 12878 w 1146219"/>
              <a:gd name="connsiteY8" fmla="*/ 427918 h 814284"/>
              <a:gd name="connsiteX9" fmla="*/ 0 w 1146219"/>
              <a:gd name="connsiteY9" fmla="*/ 376402 h 814284"/>
              <a:gd name="connsiteX10" fmla="*/ 12878 w 1146219"/>
              <a:gd name="connsiteY10" fmla="*/ 247614 h 814284"/>
              <a:gd name="connsiteX11" fmla="*/ 25757 w 1146219"/>
              <a:gd name="connsiteY11" fmla="*/ 208977 h 814284"/>
              <a:gd name="connsiteX12" fmla="*/ 141667 w 1146219"/>
              <a:gd name="connsiteY12" fmla="*/ 118825 h 814284"/>
              <a:gd name="connsiteX13" fmla="*/ 180304 w 1146219"/>
              <a:gd name="connsiteY13" fmla="*/ 93067 h 814284"/>
              <a:gd name="connsiteX14" fmla="*/ 257577 w 1146219"/>
              <a:gd name="connsiteY14" fmla="*/ 41552 h 814284"/>
              <a:gd name="connsiteX15" fmla="*/ 296214 w 1146219"/>
              <a:gd name="connsiteY15" fmla="*/ 15794 h 814284"/>
              <a:gd name="connsiteX16" fmla="*/ 579549 w 1146219"/>
              <a:gd name="connsiteY16" fmla="*/ 15794 h 814284"/>
              <a:gd name="connsiteX17" fmla="*/ 695459 w 1146219"/>
              <a:gd name="connsiteY17" fmla="*/ 41552 h 814284"/>
              <a:gd name="connsiteX18" fmla="*/ 772732 w 1146219"/>
              <a:gd name="connsiteY18" fmla="*/ 67309 h 814284"/>
              <a:gd name="connsiteX19" fmla="*/ 850005 w 1146219"/>
              <a:gd name="connsiteY19" fmla="*/ 118825 h 814284"/>
              <a:gd name="connsiteX20" fmla="*/ 914400 w 1146219"/>
              <a:gd name="connsiteY20" fmla="*/ 247614 h 814284"/>
              <a:gd name="connsiteX21" fmla="*/ 927278 w 1146219"/>
              <a:gd name="connsiteY21" fmla="*/ 415039 h 814284"/>
              <a:gd name="connsiteX22" fmla="*/ 978794 w 1146219"/>
              <a:gd name="connsiteY22" fmla="*/ 492312 h 814284"/>
              <a:gd name="connsiteX23" fmla="*/ 1094704 w 1146219"/>
              <a:gd name="connsiteY23" fmla="*/ 556706 h 814284"/>
              <a:gd name="connsiteX24" fmla="*/ 1120462 w 1146219"/>
              <a:gd name="connsiteY24" fmla="*/ 595343 h 814284"/>
              <a:gd name="connsiteX25" fmla="*/ 1146219 w 1146219"/>
              <a:gd name="connsiteY25" fmla="*/ 672616 h 814284"/>
              <a:gd name="connsiteX26" fmla="*/ 1133340 w 1146219"/>
              <a:gd name="connsiteY26" fmla="*/ 724132 h 814284"/>
              <a:gd name="connsiteX27" fmla="*/ 1094704 w 1146219"/>
              <a:gd name="connsiteY27" fmla="*/ 737011 h 814284"/>
              <a:gd name="connsiteX28" fmla="*/ 1056067 w 1146219"/>
              <a:gd name="connsiteY28" fmla="*/ 762768 h 814284"/>
              <a:gd name="connsiteX29" fmla="*/ 965915 w 1146219"/>
              <a:gd name="connsiteY29" fmla="*/ 788526 h 814284"/>
              <a:gd name="connsiteX30" fmla="*/ 850005 w 1146219"/>
              <a:gd name="connsiteY30" fmla="*/ 814284 h 814284"/>
              <a:gd name="connsiteX31" fmla="*/ 605307 w 1146219"/>
              <a:gd name="connsiteY31" fmla="*/ 801405 h 814284"/>
              <a:gd name="connsiteX32" fmla="*/ 540912 w 1146219"/>
              <a:gd name="connsiteY32" fmla="*/ 788526 h 814284"/>
              <a:gd name="connsiteX33" fmla="*/ 450760 w 1146219"/>
              <a:gd name="connsiteY33" fmla="*/ 762768 h 814284"/>
              <a:gd name="connsiteX34" fmla="*/ 425002 w 1146219"/>
              <a:gd name="connsiteY34" fmla="*/ 762768 h 81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146219" h="814284">
                <a:moveTo>
                  <a:pt x="425002" y="762768"/>
                </a:moveTo>
                <a:cubicBezTo>
                  <a:pt x="399244" y="760622"/>
                  <a:pt x="338618" y="757841"/>
                  <a:pt x="296214" y="749890"/>
                </a:cubicBezTo>
                <a:cubicBezTo>
                  <a:pt x="269528" y="744886"/>
                  <a:pt x="218940" y="724132"/>
                  <a:pt x="218940" y="724132"/>
                </a:cubicBezTo>
                <a:cubicBezTo>
                  <a:pt x="206061" y="715546"/>
                  <a:pt x="191249" y="709319"/>
                  <a:pt x="180304" y="698374"/>
                </a:cubicBezTo>
                <a:cubicBezTo>
                  <a:pt x="169359" y="687429"/>
                  <a:pt x="164455" y="671628"/>
                  <a:pt x="154546" y="659737"/>
                </a:cubicBezTo>
                <a:cubicBezTo>
                  <a:pt x="142886" y="645745"/>
                  <a:pt x="128788" y="633980"/>
                  <a:pt x="115909" y="621101"/>
                </a:cubicBezTo>
                <a:cubicBezTo>
                  <a:pt x="73307" y="493286"/>
                  <a:pt x="144782" y="688525"/>
                  <a:pt x="64394" y="543828"/>
                </a:cubicBezTo>
                <a:cubicBezTo>
                  <a:pt x="51208" y="520094"/>
                  <a:pt x="47222" y="492312"/>
                  <a:pt x="38636" y="466554"/>
                </a:cubicBezTo>
                <a:cubicBezTo>
                  <a:pt x="33741" y="451870"/>
                  <a:pt x="21464" y="440797"/>
                  <a:pt x="12878" y="427918"/>
                </a:cubicBezTo>
                <a:cubicBezTo>
                  <a:pt x="8585" y="410746"/>
                  <a:pt x="0" y="394102"/>
                  <a:pt x="0" y="376402"/>
                </a:cubicBezTo>
                <a:cubicBezTo>
                  <a:pt x="0" y="333259"/>
                  <a:pt x="6318" y="290256"/>
                  <a:pt x="12878" y="247614"/>
                </a:cubicBezTo>
                <a:cubicBezTo>
                  <a:pt x="14942" y="234196"/>
                  <a:pt x="18227" y="220273"/>
                  <a:pt x="25757" y="208977"/>
                </a:cubicBezTo>
                <a:cubicBezTo>
                  <a:pt x="49968" y="172661"/>
                  <a:pt x="110963" y="139294"/>
                  <a:pt x="141667" y="118825"/>
                </a:cubicBezTo>
                <a:cubicBezTo>
                  <a:pt x="154546" y="110239"/>
                  <a:pt x="169359" y="104012"/>
                  <a:pt x="180304" y="93067"/>
                </a:cubicBezTo>
                <a:cubicBezTo>
                  <a:pt x="228539" y="44831"/>
                  <a:pt x="201661" y="60189"/>
                  <a:pt x="257577" y="41552"/>
                </a:cubicBezTo>
                <a:cubicBezTo>
                  <a:pt x="270456" y="32966"/>
                  <a:pt x="281987" y="21891"/>
                  <a:pt x="296214" y="15794"/>
                </a:cubicBezTo>
                <a:cubicBezTo>
                  <a:pt x="376116" y="-18450"/>
                  <a:pt x="534226" y="13276"/>
                  <a:pt x="579549" y="15794"/>
                </a:cubicBezTo>
                <a:cubicBezTo>
                  <a:pt x="690089" y="52641"/>
                  <a:pt x="514141" y="-3777"/>
                  <a:pt x="695459" y="41552"/>
                </a:cubicBezTo>
                <a:cubicBezTo>
                  <a:pt x="721799" y="48137"/>
                  <a:pt x="750141" y="52248"/>
                  <a:pt x="772732" y="67309"/>
                </a:cubicBezTo>
                <a:lnTo>
                  <a:pt x="850005" y="118825"/>
                </a:lnTo>
                <a:cubicBezTo>
                  <a:pt x="911340" y="210826"/>
                  <a:pt x="894013" y="166065"/>
                  <a:pt x="914400" y="247614"/>
                </a:cubicBezTo>
                <a:cubicBezTo>
                  <a:pt x="918693" y="303422"/>
                  <a:pt x="920336" y="359498"/>
                  <a:pt x="927278" y="415039"/>
                </a:cubicBezTo>
                <a:cubicBezTo>
                  <a:pt x="931907" y="452069"/>
                  <a:pt x="949353" y="469414"/>
                  <a:pt x="978794" y="492312"/>
                </a:cubicBezTo>
                <a:cubicBezTo>
                  <a:pt x="1045224" y="543979"/>
                  <a:pt x="1036407" y="537275"/>
                  <a:pt x="1094704" y="556706"/>
                </a:cubicBezTo>
                <a:cubicBezTo>
                  <a:pt x="1103290" y="569585"/>
                  <a:pt x="1114176" y="581198"/>
                  <a:pt x="1120462" y="595343"/>
                </a:cubicBezTo>
                <a:cubicBezTo>
                  <a:pt x="1131489" y="620154"/>
                  <a:pt x="1146219" y="672616"/>
                  <a:pt x="1146219" y="672616"/>
                </a:cubicBezTo>
                <a:cubicBezTo>
                  <a:pt x="1141926" y="689788"/>
                  <a:pt x="1144397" y="710310"/>
                  <a:pt x="1133340" y="724132"/>
                </a:cubicBezTo>
                <a:cubicBezTo>
                  <a:pt x="1124860" y="734733"/>
                  <a:pt x="1106846" y="730940"/>
                  <a:pt x="1094704" y="737011"/>
                </a:cubicBezTo>
                <a:cubicBezTo>
                  <a:pt x="1080860" y="743933"/>
                  <a:pt x="1069911" y="755846"/>
                  <a:pt x="1056067" y="762768"/>
                </a:cubicBezTo>
                <a:cubicBezTo>
                  <a:pt x="1038855" y="771374"/>
                  <a:pt x="980773" y="785224"/>
                  <a:pt x="965915" y="788526"/>
                </a:cubicBezTo>
                <a:cubicBezTo>
                  <a:pt x="818763" y="821227"/>
                  <a:pt x="975642" y="782875"/>
                  <a:pt x="850005" y="814284"/>
                </a:cubicBezTo>
                <a:cubicBezTo>
                  <a:pt x="768439" y="809991"/>
                  <a:pt x="686704" y="808188"/>
                  <a:pt x="605307" y="801405"/>
                </a:cubicBezTo>
                <a:cubicBezTo>
                  <a:pt x="583493" y="799587"/>
                  <a:pt x="562148" y="793835"/>
                  <a:pt x="540912" y="788526"/>
                </a:cubicBezTo>
                <a:cubicBezTo>
                  <a:pt x="442710" y="763975"/>
                  <a:pt x="571218" y="786860"/>
                  <a:pt x="450760" y="762768"/>
                </a:cubicBezTo>
                <a:cubicBezTo>
                  <a:pt x="446550" y="761926"/>
                  <a:pt x="450760" y="764914"/>
                  <a:pt x="425002" y="762768"/>
                </a:cubicBezTo>
                <a:close/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60" name="Connecteur droit avec flèche 20">
            <a:extLst>
              <a:ext uri="{FF2B5EF4-FFF2-40B4-BE49-F238E27FC236}">
                <a16:creationId xmlns:a16="http://schemas.microsoft.com/office/drawing/2014/main" id="{4DBF1FB2-5A6B-4D1D-B089-FDEE0291728B}"/>
              </a:ext>
            </a:extLst>
          </p:cNvPr>
          <p:cNvCxnSpPr>
            <a:cxnSpLocks/>
            <a:endCxn id="59" idx="15"/>
          </p:cNvCxnSpPr>
          <p:nvPr/>
        </p:nvCxnSpPr>
        <p:spPr>
          <a:xfrm flipH="1">
            <a:off x="10047386" y="2802590"/>
            <a:ext cx="128788" cy="157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24">
            <a:extLst>
              <a:ext uri="{FF2B5EF4-FFF2-40B4-BE49-F238E27FC236}">
                <a16:creationId xmlns:a16="http://schemas.microsoft.com/office/drawing/2014/main" id="{6524FC0B-341F-4888-B68F-DBAD0EC555F2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1867718" y="2378815"/>
            <a:ext cx="2680398" cy="7647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30">
            <a:extLst>
              <a:ext uri="{FF2B5EF4-FFF2-40B4-BE49-F238E27FC236}">
                <a16:creationId xmlns:a16="http://schemas.microsoft.com/office/drawing/2014/main" id="{8138BDDA-E2C7-41D6-8AE8-37A3139F3736}"/>
              </a:ext>
            </a:extLst>
          </p:cNvPr>
          <p:cNvCxnSpPr>
            <a:cxnSpLocks/>
          </p:cNvCxnSpPr>
          <p:nvPr/>
        </p:nvCxnSpPr>
        <p:spPr>
          <a:xfrm>
            <a:off x="7063409" y="2498293"/>
            <a:ext cx="3038164" cy="6857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31">
            <a:extLst>
              <a:ext uri="{FF2B5EF4-FFF2-40B4-BE49-F238E27FC236}">
                <a16:creationId xmlns:a16="http://schemas.microsoft.com/office/drawing/2014/main" id="{AF0E53E8-66AE-4BC1-A354-DFA86449AA3A}"/>
              </a:ext>
            </a:extLst>
          </p:cNvPr>
          <p:cNvSpPr txBox="1"/>
          <p:nvPr/>
        </p:nvSpPr>
        <p:spPr>
          <a:xfrm>
            <a:off x="831531" y="4230304"/>
            <a:ext cx="181158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moteur</a:t>
            </a:r>
          </a:p>
        </p:txBody>
      </p:sp>
      <p:sp>
        <p:nvSpPr>
          <p:cNvPr id="65" name="ZoneTexte 32">
            <a:extLst>
              <a:ext uri="{FF2B5EF4-FFF2-40B4-BE49-F238E27FC236}">
                <a16:creationId xmlns:a16="http://schemas.microsoft.com/office/drawing/2014/main" id="{8BE719C6-637F-4AE0-B409-7CA87453C061}"/>
              </a:ext>
            </a:extLst>
          </p:cNvPr>
          <p:cNvSpPr txBox="1"/>
          <p:nvPr/>
        </p:nvSpPr>
        <p:spPr>
          <a:xfrm>
            <a:off x="8949683" y="4251396"/>
            <a:ext cx="2093650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récepteur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DDB9A3F-45E2-44B2-9C0C-74BD93B97054}"/>
                  </a:ext>
                </a:extLst>
              </p14:cNvPr>
              <p14:cNvContentPartPr/>
              <p14:nvPr/>
            </p14:nvContentPartPr>
            <p14:xfrm>
              <a:off x="10687179" y="2974649"/>
              <a:ext cx="30224" cy="23157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DDB9A3F-45E2-44B2-9C0C-74BD93B970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83538" y="2971053"/>
                <a:ext cx="37143" cy="238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494C53E-D387-40A8-92E2-9917ABE2ED86}"/>
                  </a:ext>
                </a:extLst>
              </p:cNvPr>
              <p:cNvSpPr txBox="1"/>
              <p:nvPr/>
            </p:nvSpPr>
            <p:spPr>
              <a:xfrm>
                <a:off x="4548116" y="1924460"/>
                <a:ext cx="2367186" cy="9087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𝒚𝒄𝒍𝒆</m:t>
                          </m:r>
                        </m:sub>
                        <m:sup/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𝑷𝒅𝑽</m:t>
                          </m:r>
                        </m:e>
                      </m:nary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494C53E-D387-40A8-92E2-9917ABE2E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116" y="1924460"/>
                <a:ext cx="2367186" cy="908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C4FFAD-FC7F-4D7F-8B8A-02F801086698}"/>
                  </a:ext>
                </a:extLst>
              </p:cNvPr>
              <p:cNvSpPr txBox="1"/>
              <p:nvPr/>
            </p:nvSpPr>
            <p:spPr>
              <a:xfrm>
                <a:off x="2689165" y="3241437"/>
                <a:ext cx="1122512" cy="46166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𝑾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C4FFAD-FC7F-4D7F-8B8A-02F801086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165" y="3241437"/>
                <a:ext cx="11225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ZoneTexte 11">
            <a:extLst>
              <a:ext uri="{FF2B5EF4-FFF2-40B4-BE49-F238E27FC236}">
                <a16:creationId xmlns:a16="http://schemas.microsoft.com/office/drawing/2014/main" id="{5F2795FC-4B10-484C-A892-248B7B4B36D3}"/>
              </a:ext>
            </a:extLst>
          </p:cNvPr>
          <p:cNvSpPr txBox="1"/>
          <p:nvPr/>
        </p:nvSpPr>
        <p:spPr>
          <a:xfrm>
            <a:off x="456857" y="222493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i="1" dirty="0"/>
              <a:t>P</a:t>
            </a:r>
          </a:p>
        </p:txBody>
      </p:sp>
      <p:sp>
        <p:nvSpPr>
          <p:cNvPr id="72" name="ZoneTexte 11">
            <a:extLst>
              <a:ext uri="{FF2B5EF4-FFF2-40B4-BE49-F238E27FC236}">
                <a16:creationId xmlns:a16="http://schemas.microsoft.com/office/drawing/2014/main" id="{E08390B9-72E0-4379-8A1B-0BF0871B57C0}"/>
              </a:ext>
            </a:extLst>
          </p:cNvPr>
          <p:cNvSpPr txBox="1"/>
          <p:nvPr/>
        </p:nvSpPr>
        <p:spPr>
          <a:xfrm>
            <a:off x="11309517" y="3947373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i="1" dirty="0"/>
              <a:t>V</a:t>
            </a:r>
          </a:p>
        </p:txBody>
      </p:sp>
      <p:sp>
        <p:nvSpPr>
          <p:cNvPr id="73" name="ZoneTexte 11">
            <a:extLst>
              <a:ext uri="{FF2B5EF4-FFF2-40B4-BE49-F238E27FC236}">
                <a16:creationId xmlns:a16="http://schemas.microsoft.com/office/drawing/2014/main" id="{067F3848-74C9-40B6-8C78-375DCF528293}"/>
              </a:ext>
            </a:extLst>
          </p:cNvPr>
          <p:cNvSpPr txBox="1"/>
          <p:nvPr/>
        </p:nvSpPr>
        <p:spPr>
          <a:xfrm>
            <a:off x="8968931" y="246093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i="1" dirty="0"/>
              <a:t>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48E2A7-1921-4264-86A5-67FB1FE5B1A0}"/>
              </a:ext>
            </a:extLst>
          </p:cNvPr>
          <p:cNvCxnSpPr>
            <a:stCxn id="54" idx="15"/>
            <a:endCxn id="54" idx="16"/>
          </p:cNvCxnSpPr>
          <p:nvPr/>
        </p:nvCxnSpPr>
        <p:spPr>
          <a:xfrm>
            <a:off x="1590821" y="2848964"/>
            <a:ext cx="28333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88EB5C5-5A2E-4B14-BF4B-540A617E102E}"/>
                  </a:ext>
                </a:extLst>
              </p:cNvPr>
              <p:cNvSpPr txBox="1"/>
              <p:nvPr/>
            </p:nvSpPr>
            <p:spPr>
              <a:xfrm>
                <a:off x="8050384" y="3256046"/>
                <a:ext cx="1122512" cy="46166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𝑾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88EB5C5-5A2E-4B14-BF4B-540A617E1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384" y="3256046"/>
                <a:ext cx="112251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4D281FE-DC38-4F01-BB3B-F8BA20781EA0}"/>
              </a:ext>
            </a:extLst>
          </p:cNvPr>
          <p:cNvSpPr txBox="1"/>
          <p:nvPr/>
        </p:nvSpPr>
        <p:spPr>
          <a:xfrm>
            <a:off x="190115" y="4834145"/>
            <a:ext cx="499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cycle est décrit dans le sens horaire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9ED5B2-95E7-40EF-BF2F-3C28D53A7752}"/>
              </a:ext>
            </a:extLst>
          </p:cNvPr>
          <p:cNvSpPr txBox="1"/>
          <p:nvPr/>
        </p:nvSpPr>
        <p:spPr>
          <a:xfrm>
            <a:off x="5884240" y="4834145"/>
            <a:ext cx="616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cycle est décrit dans le sens trigonométrique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0391F0-C6F5-4E82-ADAE-C5A2FB425C67}"/>
              </a:ext>
            </a:extLst>
          </p:cNvPr>
          <p:cNvCxnSpPr/>
          <p:nvPr/>
        </p:nvCxnSpPr>
        <p:spPr>
          <a:xfrm>
            <a:off x="5433391" y="3240312"/>
            <a:ext cx="0" cy="3438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36">
            <a:extLst>
              <a:ext uri="{FF2B5EF4-FFF2-40B4-BE49-F238E27FC236}">
                <a16:creationId xmlns:a16="http://schemas.microsoft.com/office/drawing/2014/main" id="{05917E6F-BE5A-4A05-8A37-42680B0F506A}"/>
              </a:ext>
            </a:extLst>
          </p:cNvPr>
          <p:cNvSpPr txBox="1"/>
          <p:nvPr/>
        </p:nvSpPr>
        <p:spPr>
          <a:xfrm>
            <a:off x="407897" y="151155"/>
            <a:ext cx="7217297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Systèmes décrivant des transformations particulières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A49DFB-1D63-4195-8DED-00D9B7CF6DCE}"/>
                  </a:ext>
                </a:extLst>
              </p:cNvPr>
              <p:cNvSpPr txBox="1"/>
              <p:nvPr/>
            </p:nvSpPr>
            <p:spPr>
              <a:xfrm>
                <a:off x="407897" y="954157"/>
                <a:ext cx="40060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Transformation isochore </a:t>
                </a:r>
                <a14:m>
                  <m:oMath xmlns:m="http://schemas.openxmlformats.org/officeDocument/2006/math"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dirty="0" err="1" smtClean="0">
                        <a:latin typeface="Cambria Math" panose="02040503050406030204" pitchFamily="18" charset="0"/>
                      </a:rPr>
                      <m:t>𝑪𝒕𝒆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A49DFB-1D63-4195-8DED-00D9B7CF6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7" y="954157"/>
                <a:ext cx="4006033" cy="400110"/>
              </a:xfrm>
              <a:prstGeom prst="rect">
                <a:avLst/>
              </a:prstGeom>
              <a:blipFill>
                <a:blip r:embed="rId2"/>
                <a:stretch>
                  <a:fillRect l="-1522" t="-10769" b="-338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FBDF1-7271-4D7E-A000-20BC3F8B8B28}"/>
                  </a:ext>
                </a:extLst>
              </p:cNvPr>
              <p:cNvSpPr txBox="1"/>
              <p:nvPr/>
            </p:nvSpPr>
            <p:spPr>
              <a:xfrm>
                <a:off x="4809512" y="892602"/>
                <a:ext cx="1122512" cy="46166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𝑾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FBDF1-7271-4D7E-A000-20BC3F8B8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512" y="892602"/>
                <a:ext cx="11225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E370A9-2F3C-47D6-8EBA-F67B868BDBC8}"/>
                  </a:ext>
                </a:extLst>
              </p:cNvPr>
              <p:cNvSpPr txBox="1"/>
              <p:nvPr/>
            </p:nvSpPr>
            <p:spPr>
              <a:xfrm>
                <a:off x="407897" y="2244206"/>
                <a:ext cx="46481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Transformation monobare</a:t>
                </a:r>
                <a:r>
                  <a:rPr lang="fr-FR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dirty="0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dirty="0" err="1" smtClean="0">
                        <a:latin typeface="Cambria Math" panose="02040503050406030204" pitchFamily="18" charset="0"/>
                      </a:rPr>
                      <m:t>𝑪𝒕𝒆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E370A9-2F3C-47D6-8EBA-F67B868BD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7" y="2244206"/>
                <a:ext cx="4648132" cy="400110"/>
              </a:xfrm>
              <a:prstGeom prst="rect">
                <a:avLst/>
              </a:prstGeom>
              <a:blipFill>
                <a:blip r:embed="rId4"/>
                <a:stretch>
                  <a:fillRect l="-1312" t="-9091" b="-3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DDAF94-95BA-4D30-9A4D-DD24DBE2FA0B}"/>
                  </a:ext>
                </a:extLst>
              </p:cNvPr>
              <p:cNvSpPr txBox="1"/>
              <p:nvPr/>
            </p:nvSpPr>
            <p:spPr>
              <a:xfrm>
                <a:off x="5223782" y="2244206"/>
                <a:ext cx="2674513" cy="4001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DDAF94-95BA-4D30-9A4D-DD24DBE2F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782" y="2244206"/>
                <a:ext cx="2674513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1CEEB8-E13E-41DD-8FD8-1DACB643B538}"/>
                  </a:ext>
                </a:extLst>
              </p:cNvPr>
              <p:cNvSpPr txBox="1"/>
              <p:nvPr/>
            </p:nvSpPr>
            <p:spPr>
              <a:xfrm>
                <a:off x="407897" y="3334200"/>
                <a:ext cx="67766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Transformation isobare</a:t>
                </a:r>
                <a:r>
                  <a:rPr lang="fr-FR" sz="2000" dirty="0"/>
                  <a:t>  mécaniquement réversible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dirty="0" err="1" smtClean="0">
                        <a:latin typeface="Cambria Math" panose="02040503050406030204" pitchFamily="18" charset="0"/>
                      </a:rPr>
                      <m:t>𝑪𝒕𝒆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1CEEB8-E13E-41DD-8FD8-1DACB643B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7" y="3334200"/>
                <a:ext cx="6776663" cy="400110"/>
              </a:xfrm>
              <a:prstGeom prst="rect">
                <a:avLst/>
              </a:prstGeom>
              <a:blipFill>
                <a:blip r:embed="rId6"/>
                <a:stretch>
                  <a:fillRect l="-899" t="-9091" b="-3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A1B7EF-7059-4875-8EE4-4544D24FF7F6}"/>
                  </a:ext>
                </a:extLst>
              </p:cNvPr>
              <p:cNvSpPr txBox="1"/>
              <p:nvPr/>
            </p:nvSpPr>
            <p:spPr>
              <a:xfrm>
                <a:off x="7297748" y="3334200"/>
                <a:ext cx="2217314" cy="4001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A1B7EF-7059-4875-8EE4-4544D24F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748" y="3334200"/>
                <a:ext cx="2217314" cy="400110"/>
              </a:xfrm>
              <a:prstGeom prst="rect">
                <a:avLst/>
              </a:prstGeom>
              <a:blipFill>
                <a:blip r:embed="rId7"/>
                <a:stretch>
                  <a:fillRect r="-1374" b="-1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BC666D-3F73-415A-AC7D-5B72A8A33799}"/>
                  </a:ext>
                </a:extLst>
              </p:cNvPr>
              <p:cNvSpPr txBox="1"/>
              <p:nvPr/>
            </p:nvSpPr>
            <p:spPr>
              <a:xfrm>
                <a:off x="407897" y="4275702"/>
                <a:ext cx="7625357" cy="411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Transformation polytropique</a:t>
                </a:r>
                <a:r>
                  <a:rPr lang="fr-FR" sz="2000" dirty="0"/>
                  <a:t>  mécaniquement réversible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sSup>
                      <m:sSupPr>
                        <m:ctrlPr>
                          <a:rPr lang="fr-F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fr-FR" sz="20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dirty="0" err="1" smtClean="0">
                        <a:latin typeface="Cambria Math" panose="02040503050406030204" pitchFamily="18" charset="0"/>
                      </a:rPr>
                      <m:t>𝑪𝒕𝒆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BC666D-3F73-415A-AC7D-5B72A8A33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7" y="4275702"/>
                <a:ext cx="7625357" cy="411779"/>
              </a:xfrm>
              <a:prstGeom prst="rect">
                <a:avLst/>
              </a:prstGeom>
              <a:blipFill>
                <a:blip r:embed="rId8"/>
                <a:stretch>
                  <a:fillRect l="-799" t="-5882" b="-32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C45A05-6D28-49B7-A823-86B1744085E3}"/>
                  </a:ext>
                </a:extLst>
              </p:cNvPr>
              <p:cNvSpPr txBox="1"/>
              <p:nvPr/>
            </p:nvSpPr>
            <p:spPr>
              <a:xfrm>
                <a:off x="8642842" y="4287371"/>
                <a:ext cx="28998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dirty="0"/>
                  <a:t> est un réel positif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C45A05-6D28-49B7-A823-86B174408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842" y="4287371"/>
                <a:ext cx="2899801" cy="400110"/>
              </a:xfrm>
              <a:prstGeom prst="rect">
                <a:avLst/>
              </a:prstGeom>
              <a:blipFill>
                <a:blip r:embed="rId9"/>
                <a:stretch>
                  <a:fillRect l="-211" t="-7576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1CF0B-61F5-4CE1-9892-683B7E223AD4}"/>
                  </a:ext>
                </a:extLst>
              </p:cNvPr>
              <p:cNvSpPr txBox="1"/>
              <p:nvPr/>
            </p:nvSpPr>
            <p:spPr>
              <a:xfrm>
                <a:off x="569843" y="5002304"/>
                <a:ext cx="43234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Exprimer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fr-FR" sz="2000" dirty="0"/>
                  <a:t> . Discuter en fonction de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fr-FR" sz="20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1CF0B-61F5-4CE1-9892-683B7E223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5002304"/>
                <a:ext cx="4323491" cy="400110"/>
              </a:xfrm>
              <a:prstGeom prst="rect">
                <a:avLst/>
              </a:prstGeom>
              <a:blipFill>
                <a:blip r:embed="rId10"/>
                <a:stretch>
                  <a:fillRect l="-1408" t="-9231" r="-704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2102326" y="987828"/>
            <a:ext cx="8237427" cy="4315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290" name="Ink 1049289"/>
              <p14:cNvContentPartPr/>
              <p14:nvPr/>
            </p14:nvContentPartPr>
            <p14:xfrm>
              <a:off x="8164936" y="2957976"/>
              <a:ext cx="348760" cy="228774"/>
            </p14:xfrm>
          </p:contentPart>
        </mc:Choice>
        <mc:Fallback xmlns="">
          <p:sp>
            <p:nvSpPr>
              <p:cNvPr id="1049290" name=""/>
              <p:cNvSpPr/>
              <p:nvPr/>
            </p:nvSpPr>
            <p:spPr>
              <a:xfrm>
                <a:off x="8164936" y="2957976"/>
                <a:ext cx="348760" cy="228774"/>
              </a:xfrm>
            </p:spPr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763310-45DB-4091-B7E7-1D1F2EFF3A41}"/>
                  </a:ext>
                </a:extLst>
              </p:cNvPr>
              <p:cNvSpPr txBox="1"/>
              <p:nvPr/>
            </p:nvSpPr>
            <p:spPr>
              <a:xfrm>
                <a:off x="2154383" y="2148903"/>
                <a:ext cx="208063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763310-45DB-4091-B7E7-1D1F2EFF3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383" y="2148903"/>
                <a:ext cx="2080633" cy="369332"/>
              </a:xfrm>
              <a:prstGeom prst="rect">
                <a:avLst/>
              </a:prstGeom>
              <a:blipFill>
                <a:blip r:embed="rId2"/>
                <a:stretch>
                  <a:fillRect l="-2924" r="-4094" b="-3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ZoneTexte 3">
            <a:extLst>
              <a:ext uri="{FF2B5EF4-FFF2-40B4-BE49-F238E27FC236}">
                <a16:creationId xmlns:a16="http://schemas.microsoft.com/office/drawing/2014/main" id="{EAC9C5AC-D817-4E46-BD9A-21B83BB6DEEF}"/>
              </a:ext>
            </a:extLst>
          </p:cNvPr>
          <p:cNvSpPr txBox="1"/>
          <p:nvPr/>
        </p:nvSpPr>
        <p:spPr>
          <a:xfrm>
            <a:off x="562708" y="90115"/>
            <a:ext cx="7066281" cy="510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Premier principe de la thermodynamique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258281-7B0D-4676-B5F5-EA727CBA07C4}"/>
                  </a:ext>
                </a:extLst>
              </p:cNvPr>
              <p:cNvSpPr txBox="1"/>
              <p:nvPr/>
            </p:nvSpPr>
            <p:spPr>
              <a:xfrm>
                <a:off x="450574" y="874643"/>
                <a:ext cx="1073426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fr-FR" sz="2000" b="1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Enoncé : </a:t>
                </a:r>
              </a:p>
              <a:p>
                <a:pPr algn="l"/>
                <a:r>
                  <a:rPr lang="fr-FR" sz="2000" b="0" i="0" u="none" strike="noStrike" baseline="0" dirty="0">
                    <a:latin typeface="TimesNewRoman"/>
                  </a:rPr>
                  <a:t>Pour un système </a:t>
                </a:r>
                <a:r>
                  <a:rPr lang="fr-FR" sz="2000" b="1" i="0" u="none" strike="noStrike" baseline="0" dirty="0">
                    <a:latin typeface="TimesNewRoman,Bold"/>
                  </a:rPr>
                  <a:t>fermé </a:t>
                </a:r>
                <a:r>
                  <a:rPr lang="fr-FR" sz="2000" b="0" i="0" u="none" strike="noStrike" baseline="0" dirty="0">
                    <a:latin typeface="TimesNewRoman"/>
                  </a:rPr>
                  <a:t>évoluant entre deux états initial </a:t>
                </a:r>
                <a:r>
                  <a:rPr lang="fr-FR" sz="2000" b="0" i="1" u="none" strike="noStrike" baseline="0" dirty="0">
                    <a:latin typeface="TimesNewRoman,Italic"/>
                  </a:rPr>
                  <a:t>I </a:t>
                </a:r>
                <a:r>
                  <a:rPr lang="fr-FR" sz="2000" b="0" i="0" u="none" strike="noStrike" baseline="0" dirty="0">
                    <a:latin typeface="TimesNewRoman"/>
                  </a:rPr>
                  <a:t>et final </a:t>
                </a:r>
                <a:r>
                  <a:rPr lang="fr-FR" sz="2000" b="0" i="1" u="none" strike="noStrike" baseline="0" dirty="0">
                    <a:latin typeface="TimesNewRoman,Italic"/>
                  </a:rPr>
                  <a:t>F</a:t>
                </a:r>
                <a:r>
                  <a:rPr lang="fr-FR" sz="2000" b="0" i="0" u="none" strike="noStrike" baseline="0" dirty="0">
                    <a:latin typeface="TimesNewRoman"/>
                  </a:rPr>
                  <a:t>, et recevant de l’extérieur le transfert mécanique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 et le transfert thermique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, le bilan d’énergie s’écrit :</a:t>
                </a:r>
                <a:r>
                  <a:rPr lang="fr-FR" sz="20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258281-7B0D-4676-B5F5-EA727CB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4" y="874643"/>
                <a:ext cx="10734261" cy="1015663"/>
              </a:xfrm>
              <a:prstGeom prst="rect">
                <a:avLst/>
              </a:prstGeom>
              <a:blipFill>
                <a:blip r:embed="rId3"/>
                <a:stretch>
                  <a:fillRect l="-625" t="-3593" b="-89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B9F8E2-D34E-4704-BF65-3BC70AF46C42}"/>
                  </a:ext>
                </a:extLst>
              </p:cNvPr>
              <p:cNvSpPr txBox="1"/>
              <p:nvPr/>
            </p:nvSpPr>
            <p:spPr>
              <a:xfrm>
                <a:off x="6618556" y="2102736"/>
                <a:ext cx="3180522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B9F8E2-D34E-4704-BF65-3BC70AF46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56" y="2102736"/>
                <a:ext cx="3180522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F526DC4-E797-41BF-842A-EC59E7D491DF}"/>
                  </a:ext>
                </a:extLst>
              </p:cNvPr>
              <p:cNvSpPr txBox="1"/>
              <p:nvPr/>
            </p:nvSpPr>
            <p:spPr>
              <a:xfrm>
                <a:off x="450574" y="3283451"/>
                <a:ext cx="10734261" cy="168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fr-FR" sz="2000" b="1" i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Cas particulier des systèmes fermés : </a:t>
                </a:r>
              </a:p>
              <a:p>
                <a:pPr algn="l"/>
                <a:r>
                  <a:rPr lang="fr-FR" sz="2000" b="0" i="0" u="none" strike="noStrike" baseline="0" dirty="0">
                    <a:latin typeface="TimesNewRoman"/>
                  </a:rPr>
                  <a:t>Pour un système </a:t>
                </a:r>
                <a:r>
                  <a:rPr lang="fr-FR" sz="2000" b="1" i="0" u="none" strike="noStrike" baseline="0" dirty="0">
                    <a:latin typeface="TimesNewRoman,Bold"/>
                  </a:rPr>
                  <a:t>fermé </a:t>
                </a:r>
                <a:r>
                  <a:rPr lang="fr-FR" sz="2000" b="0" i="0" u="none" strike="noStrike" baseline="0" dirty="0">
                    <a:latin typeface="TimesNewRoman"/>
                  </a:rPr>
                  <a:t>évoluant entre deux états initial </a:t>
                </a:r>
                <a:r>
                  <a:rPr lang="fr-FR" sz="2000" b="0" i="1" u="none" strike="noStrike" baseline="0" dirty="0">
                    <a:latin typeface="TimesNewRoman,Italic"/>
                  </a:rPr>
                  <a:t>I </a:t>
                </a:r>
                <a:r>
                  <a:rPr lang="fr-FR" sz="2000" b="0" i="0" u="none" strike="noStrike" baseline="0" dirty="0">
                    <a:latin typeface="TimesNewRoman"/>
                  </a:rPr>
                  <a:t>et final </a:t>
                </a:r>
                <a:r>
                  <a:rPr lang="fr-FR" sz="2000" b="0" i="1" u="none" strike="noStrike" baseline="0" dirty="0">
                    <a:latin typeface="TimesNewRoman,Italic"/>
                  </a:rPr>
                  <a:t>F</a:t>
                </a:r>
                <a:r>
                  <a:rPr lang="fr-FR" sz="2000" b="0" i="0" u="none" strike="noStrike" baseline="0" dirty="0">
                    <a:latin typeface="TimesNewRoman"/>
                  </a:rPr>
                  <a:t>, mais </a:t>
                </a:r>
                <a:r>
                  <a:rPr lang="fr-FR" sz="2000" b="1" i="0" u="sng" strike="noStrike" baseline="0" dirty="0">
                    <a:latin typeface="TimesNewRoman"/>
                  </a:rPr>
                  <a:t>au repos dans le référentiel </a:t>
                </a:r>
                <a:r>
                  <a:rPr lang="fr-FR" sz="2000" b="0" i="0" u="none" strike="noStrike" baseline="0" dirty="0">
                    <a:latin typeface="TimesNewRoman"/>
                  </a:rPr>
                  <a:t>d’étude.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b="0" i="0" u="none" strike="noStrike" baseline="0" dirty="0">
                    <a:latin typeface="TimesNewRoman"/>
                  </a:rPr>
                  <a:t>.</a:t>
                </a:r>
              </a:p>
              <a:p>
                <a:pPr algn="l"/>
                <a:endParaRPr lang="fr-FR" sz="2000" dirty="0">
                  <a:latin typeface="TimesNewRoman"/>
                </a:endParaRPr>
              </a:p>
              <a:p>
                <a:pPr algn="l"/>
                <a:r>
                  <a:rPr lang="fr-FR" sz="2000" b="0" i="0" u="none" strike="noStrike" baseline="0" dirty="0">
                    <a:latin typeface="TimesNewRoman"/>
                  </a:rPr>
                  <a:t>Alors:</a:t>
                </a:r>
                <a:r>
                  <a:rPr lang="fr-FR" sz="2000" dirty="0"/>
                  <a:t>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F526DC4-E797-41BF-842A-EC59E7D49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4" y="3283451"/>
                <a:ext cx="10734261" cy="1684244"/>
              </a:xfrm>
              <a:prstGeom prst="rect">
                <a:avLst/>
              </a:prstGeom>
              <a:blipFill>
                <a:blip r:embed="rId5"/>
                <a:stretch>
                  <a:fillRect l="-625" t="-2536" b="-54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BBC8B3-E6F2-4608-A8E0-2CCAA7BF1C89}"/>
                  </a:ext>
                </a:extLst>
              </p:cNvPr>
              <p:cNvSpPr txBox="1"/>
              <p:nvPr/>
            </p:nvSpPr>
            <p:spPr>
              <a:xfrm>
                <a:off x="2464904" y="4509043"/>
                <a:ext cx="2107096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BBC8B3-E6F2-4608-A8E0-2CCAA7BF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04" y="4509043"/>
                <a:ext cx="2107096" cy="461665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0220AE-0C23-4117-A2CB-50AA25AB1B6C}"/>
                  </a:ext>
                </a:extLst>
              </p:cNvPr>
              <p:cNvSpPr txBox="1"/>
              <p:nvPr/>
            </p:nvSpPr>
            <p:spPr>
              <a:xfrm>
                <a:off x="450574" y="5363579"/>
                <a:ext cx="3605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dirty="0"/>
                  <a:t>Transformation isochore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𝐶𝑡𝑒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0220AE-0C23-4117-A2CB-50AA25AB1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4" y="5363579"/>
                <a:ext cx="3605924" cy="369332"/>
              </a:xfrm>
              <a:prstGeom prst="rect">
                <a:avLst/>
              </a:prstGeom>
              <a:blipFill>
                <a:blip r:embed="rId7"/>
                <a:stretch>
                  <a:fillRect l="-1184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CC0683-4668-4095-9827-E826E20DCECD}"/>
                  </a:ext>
                </a:extLst>
              </p:cNvPr>
              <p:cNvSpPr txBox="1"/>
              <p:nvPr/>
            </p:nvSpPr>
            <p:spPr>
              <a:xfrm>
                <a:off x="4511460" y="5377003"/>
                <a:ext cx="1584540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CC0683-4668-4095-9827-E826E20D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460" y="5377003"/>
                <a:ext cx="1584540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0" name="ZoneTexte 6"/>
          <p:cNvSpPr txBox="1"/>
          <p:nvPr/>
        </p:nvSpPr>
        <p:spPr>
          <a:xfrm>
            <a:off x="315087" y="221440"/>
            <a:ext cx="8145780" cy="5105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Autre énoncé : L’énergie de l’univers est conservée</a:t>
            </a:r>
          </a:p>
        </p:txBody>
      </p:sp>
      <p:sp>
        <p:nvSpPr>
          <p:cNvPr id="1049141" name="Ellipse 7"/>
          <p:cNvSpPr/>
          <p:nvPr/>
        </p:nvSpPr>
        <p:spPr>
          <a:xfrm>
            <a:off x="7410690" y="651918"/>
            <a:ext cx="4614683" cy="21945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142" name="Ellipse 8"/>
          <p:cNvSpPr/>
          <p:nvPr/>
        </p:nvSpPr>
        <p:spPr>
          <a:xfrm>
            <a:off x="9512035" y="1531220"/>
            <a:ext cx="1835354" cy="857983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143" name="ZoneTexte 9"/>
          <p:cNvSpPr txBox="1"/>
          <p:nvPr/>
        </p:nvSpPr>
        <p:spPr>
          <a:xfrm>
            <a:off x="9815922" y="1688196"/>
            <a:ext cx="1427479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Système</a:t>
            </a:r>
          </a:p>
        </p:txBody>
      </p:sp>
      <p:sp>
        <p:nvSpPr>
          <p:cNvPr id="1049144" name="ZoneTexte 10"/>
          <p:cNvSpPr txBox="1"/>
          <p:nvPr/>
        </p:nvSpPr>
        <p:spPr>
          <a:xfrm>
            <a:off x="7954899" y="987189"/>
            <a:ext cx="23545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Milieu extérieur</a:t>
            </a:r>
          </a:p>
        </p:txBody>
      </p:sp>
      <p:cxnSp>
        <p:nvCxnSpPr>
          <p:cNvPr id="3145750" name="Connecteur droit avec flèche 12"/>
          <p:cNvCxnSpPr>
            <a:cxnSpLocks/>
            <a:endCxn id="1049141" idx="2"/>
          </p:cNvCxnSpPr>
          <p:nvPr/>
        </p:nvCxnSpPr>
        <p:spPr>
          <a:xfrm>
            <a:off x="5517958" y="1729379"/>
            <a:ext cx="1892732" cy="19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145" name="ZoneTexte 13"/>
          <p:cNvSpPr txBox="1"/>
          <p:nvPr/>
        </p:nvSpPr>
        <p:spPr>
          <a:xfrm>
            <a:off x="4387977" y="1467768"/>
            <a:ext cx="11480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</a:t>
            </a:r>
          </a:p>
          <a:p>
            <a:r>
              <a:rPr lang="fr-MA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(isolé)</a:t>
            </a:r>
          </a:p>
        </p:txBody>
      </p:sp>
      <p:sp>
        <p:nvSpPr>
          <p:cNvPr id="1049146" name="Arc 14"/>
          <p:cNvSpPr/>
          <p:nvPr/>
        </p:nvSpPr>
        <p:spPr>
          <a:xfrm>
            <a:off x="10186533" y="1180717"/>
            <a:ext cx="604911" cy="857983"/>
          </a:xfrm>
          <a:prstGeom prst="arc">
            <a:avLst>
              <a:gd name="adj1" fmla="val 16200000"/>
              <a:gd name="adj2" fmla="val 1437757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147" name="ZoneTexte 15"/>
          <p:cNvSpPr txBox="1"/>
          <p:nvPr/>
        </p:nvSpPr>
        <p:spPr>
          <a:xfrm>
            <a:off x="10233950" y="824878"/>
            <a:ext cx="589280" cy="5105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</a:p>
        </p:txBody>
      </p:sp>
      <p:sp>
        <p:nvSpPr>
          <p:cNvPr id="1049148" name="Arc 16"/>
          <p:cNvSpPr/>
          <p:nvPr/>
        </p:nvSpPr>
        <p:spPr>
          <a:xfrm rot="13465716" flipH="1">
            <a:off x="9035477" y="1413758"/>
            <a:ext cx="802941" cy="810219"/>
          </a:xfrm>
          <a:prstGeom prst="arc">
            <a:avLst>
              <a:gd name="adj1" fmla="val 16200000"/>
              <a:gd name="adj2" fmla="val 1437757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149" name="ZoneTexte 17"/>
          <p:cNvSpPr txBox="1"/>
          <p:nvPr/>
        </p:nvSpPr>
        <p:spPr>
          <a:xfrm>
            <a:off x="8761027" y="1698601"/>
            <a:ext cx="513080" cy="5105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ACC5A3-D59E-4AE8-9032-AF6F27EF0042}"/>
                  </a:ext>
                </a:extLst>
              </p:cNvPr>
              <p:cNvSpPr txBox="1"/>
              <p:nvPr/>
            </p:nvSpPr>
            <p:spPr>
              <a:xfrm>
                <a:off x="689160" y="2469265"/>
                <a:ext cx="4997074" cy="4703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𝒖𝒏𝒊𝒗𝒆𝒓𝒔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𝒔𝒚𝒔𝒕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ACC5A3-D59E-4AE8-9032-AF6F27EF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0" y="2469265"/>
                <a:ext cx="4997074" cy="4703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C0FC19-A1C9-46F3-ADE9-85B3A79C80A3}"/>
                  </a:ext>
                </a:extLst>
              </p:cNvPr>
              <p:cNvSpPr txBox="1"/>
              <p:nvPr/>
            </p:nvSpPr>
            <p:spPr>
              <a:xfrm>
                <a:off x="456565" y="3214870"/>
                <a:ext cx="2564931" cy="4955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𝒔𝒚𝒔𝒕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C0FC19-A1C9-46F3-ADE9-85B3A79C8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65" y="3214870"/>
                <a:ext cx="2564931" cy="495520"/>
              </a:xfrm>
              <a:prstGeom prst="rect">
                <a:avLst/>
              </a:prstGeom>
              <a:blipFill>
                <a:blip r:embed="rId3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C2CAE7-E456-4CA9-A8B5-C7E8167A76FD}"/>
                  </a:ext>
                </a:extLst>
              </p:cNvPr>
              <p:cNvSpPr txBox="1"/>
              <p:nvPr/>
            </p:nvSpPr>
            <p:spPr>
              <a:xfrm>
                <a:off x="456565" y="3824970"/>
                <a:ext cx="2564931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C2CAE7-E456-4CA9-A8B5-C7E8167A7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65" y="3824970"/>
                <a:ext cx="2564931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8316BCB-B288-458D-9989-4882E108ADE1}"/>
              </a:ext>
            </a:extLst>
          </p:cNvPr>
          <p:cNvSpPr txBox="1"/>
          <p:nvPr/>
        </p:nvSpPr>
        <p:spPr>
          <a:xfrm>
            <a:off x="456565" y="891447"/>
            <a:ext cx="53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Enoncé : </a:t>
            </a:r>
            <a:r>
              <a:rPr lang="fr-FR" sz="2000" dirty="0"/>
              <a:t>L’énergie de l’univers est constante.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2">
            <a:extLst>
              <a:ext uri="{FF2B5EF4-FFF2-40B4-BE49-F238E27FC236}">
                <a16:creationId xmlns:a16="http://schemas.microsoft.com/office/drawing/2014/main" id="{CBB0F416-2721-4F44-9D96-A7338EB4E615}"/>
              </a:ext>
            </a:extLst>
          </p:cNvPr>
          <p:cNvSpPr txBox="1"/>
          <p:nvPr/>
        </p:nvSpPr>
        <p:spPr>
          <a:xfrm>
            <a:off x="1875100" y="1300264"/>
            <a:ext cx="3929353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Différentielle totale exacte dont l’intégration ne dépend pas de la nature de la transformation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09E68823-FB33-42BE-BF7F-E27FAE4A4C06}"/>
              </a:ext>
            </a:extLst>
          </p:cNvPr>
          <p:cNvSpPr txBox="1"/>
          <p:nvPr/>
        </p:nvSpPr>
        <p:spPr>
          <a:xfrm>
            <a:off x="6796346" y="1504121"/>
            <a:ext cx="4950939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Différentielle non exacte dont l’intégration dépend de la nature de la 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9771B-6BCD-4F4D-AAC3-366F3612C03D}"/>
              </a:ext>
            </a:extLst>
          </p:cNvPr>
          <p:cNvSpPr txBox="1"/>
          <p:nvPr/>
        </p:nvSpPr>
        <p:spPr>
          <a:xfrm>
            <a:off x="379627" y="304800"/>
            <a:ext cx="4502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Pour une transformation </a:t>
            </a:r>
            <a:r>
              <a:rPr lang="fr-FR" sz="2000" dirty="0" err="1"/>
              <a:t>infinitisimale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83BB43-2EA1-4528-918E-6548C64E5CF9}"/>
                  </a:ext>
                </a:extLst>
              </p:cNvPr>
              <p:cNvSpPr txBox="1"/>
              <p:nvPr/>
            </p:nvSpPr>
            <p:spPr>
              <a:xfrm>
                <a:off x="5503177" y="335578"/>
                <a:ext cx="2143215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fr-FR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83BB43-2EA1-4528-918E-6548C64E5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77" y="335578"/>
                <a:ext cx="2143215" cy="369332"/>
              </a:xfrm>
              <a:prstGeom prst="rect">
                <a:avLst/>
              </a:prstGeom>
              <a:blipFill>
                <a:blip r:embed="rId2"/>
                <a:stretch>
                  <a:fillRect l="-3704" r="-5983" b="-377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11">
            <a:extLst>
              <a:ext uri="{FF2B5EF4-FFF2-40B4-BE49-F238E27FC236}">
                <a16:creationId xmlns:a16="http://schemas.microsoft.com/office/drawing/2014/main" id="{54259C1A-9E4D-4CC1-80BA-BEF3D3B0E4D8}"/>
              </a:ext>
            </a:extLst>
          </p:cNvPr>
          <p:cNvCxnSpPr>
            <a:cxnSpLocks/>
          </p:cNvCxnSpPr>
          <p:nvPr/>
        </p:nvCxnSpPr>
        <p:spPr>
          <a:xfrm flipV="1">
            <a:off x="4598504" y="657255"/>
            <a:ext cx="1046922" cy="643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3">
            <a:extLst>
              <a:ext uri="{FF2B5EF4-FFF2-40B4-BE49-F238E27FC236}">
                <a16:creationId xmlns:a16="http://schemas.microsoft.com/office/drawing/2014/main" id="{1A21D18A-064E-4219-8767-E02521B6DEC7}"/>
              </a:ext>
            </a:extLst>
          </p:cNvPr>
          <p:cNvCxnSpPr>
            <a:cxnSpLocks/>
          </p:cNvCxnSpPr>
          <p:nvPr/>
        </p:nvCxnSpPr>
        <p:spPr>
          <a:xfrm flipH="1" flipV="1">
            <a:off x="6453809" y="566538"/>
            <a:ext cx="408797" cy="872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7">
            <a:extLst>
              <a:ext uri="{FF2B5EF4-FFF2-40B4-BE49-F238E27FC236}">
                <a16:creationId xmlns:a16="http://schemas.microsoft.com/office/drawing/2014/main" id="{A3A3CA88-D38B-47FE-A537-A83E2B0B32D8}"/>
              </a:ext>
            </a:extLst>
          </p:cNvPr>
          <p:cNvCxnSpPr>
            <a:cxnSpLocks/>
          </p:cNvCxnSpPr>
          <p:nvPr/>
        </p:nvCxnSpPr>
        <p:spPr>
          <a:xfrm flipH="1" flipV="1">
            <a:off x="7381461" y="609285"/>
            <a:ext cx="150298" cy="920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5DA82F-06EF-4F8C-845E-DD622F01D0D3}"/>
                  </a:ext>
                </a:extLst>
              </p:cNvPr>
              <p:cNvSpPr txBox="1"/>
              <p:nvPr/>
            </p:nvSpPr>
            <p:spPr>
              <a:xfrm>
                <a:off x="1113191" y="2588115"/>
                <a:ext cx="35531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</m:t>
                          </m:r>
                        </m:sub>
                      </m:sSub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</m:t>
                          </m:r>
                        </m:sub>
                      </m:sSub>
                    </m:oMath>
                  </m:oMathPara>
                </a14:m>
                <a:endPara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5DA82F-06EF-4F8C-845E-DD622F01D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91" y="2588115"/>
                <a:ext cx="3553152" cy="430887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CA4E9-E931-4163-BD8D-56326D2BABD1}"/>
                  </a:ext>
                </a:extLst>
              </p:cNvPr>
              <p:cNvSpPr txBox="1"/>
              <p:nvPr/>
            </p:nvSpPr>
            <p:spPr>
              <a:xfrm>
                <a:off x="1335368" y="3722078"/>
                <a:ext cx="33832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CA4E9-E931-4163-BD8D-56326D2BA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368" y="3722078"/>
                <a:ext cx="3383234" cy="430887"/>
              </a:xfrm>
              <a:prstGeom prst="rect">
                <a:avLst/>
              </a:prstGeom>
              <a:blipFill>
                <a:blip r:embed="rId4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72F0CE-603D-4C7C-9043-E88AB007D97F}"/>
                  </a:ext>
                </a:extLst>
              </p:cNvPr>
              <p:cNvSpPr txBox="1"/>
              <p:nvPr/>
            </p:nvSpPr>
            <p:spPr>
              <a:xfrm>
                <a:off x="6381035" y="3321968"/>
                <a:ext cx="448919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sSub>
                      <m:sSubPr>
                        <m:ctrlP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𝒆𝒍</m:t>
                        </m:r>
                      </m:sub>
                    </m:sSub>
                    <m:r>
                      <a:rPr lang="fr-FR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sSub>
                      <m:sSubPr>
                        <m:ctrlP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fr-FR" sz="2000" dirty="0"/>
                  <a:t>   et   </a:t>
                </a:r>
                <a14:m>
                  <m:oMath xmlns:m="http://schemas.openxmlformats.org/officeDocument/2006/math">
                    <m:r>
                      <a:rPr lang="fr-FR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sSub>
                      <m:sSubPr>
                        <m:ctrlP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𝒆𝒍</m:t>
                        </m:r>
                      </m:sub>
                    </m:sSub>
                    <m:r>
                      <a:rPr lang="fr-FR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fr-FR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sSub>
                      <m:sSubPr>
                        <m:ctrlP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FR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72F0CE-603D-4C7C-9043-E88AB007D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035" y="3321968"/>
                <a:ext cx="4489190" cy="400110"/>
              </a:xfrm>
              <a:prstGeom prst="rect">
                <a:avLst/>
              </a:prstGeom>
              <a:blipFill>
                <a:blip r:embed="rId5"/>
                <a:stretch>
                  <a:fillRect l="-136" t="-9091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60D277-51B0-4454-84D4-996237EA993F}"/>
                  </a:ext>
                </a:extLst>
              </p:cNvPr>
              <p:cNvSpPr txBox="1"/>
              <p:nvPr/>
            </p:nvSpPr>
            <p:spPr>
              <a:xfrm>
                <a:off x="2889767" y="4562686"/>
                <a:ext cx="5511317" cy="4308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</m:t>
                          </m:r>
                        </m:sub>
                      </m:sSub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</m:t>
                          </m:r>
                        </m:sub>
                      </m:sSub>
                      <m:r>
                        <a:rPr lang="fr-FR" sz="28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800" b="1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60D277-51B0-4454-84D4-996237EA9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767" y="4562686"/>
                <a:ext cx="5511317" cy="430887"/>
              </a:xfrm>
              <a:prstGeom prst="rect">
                <a:avLst/>
              </a:prstGeom>
              <a:blipFill>
                <a:blip r:embed="rId6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5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0C3D4-8366-43ED-8DDB-35FA7389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006" y="1406600"/>
            <a:ext cx="5782803" cy="2860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0A4E96-11F8-462D-BE62-BB2C136EFCEE}"/>
              </a:ext>
            </a:extLst>
          </p:cNvPr>
          <p:cNvSpPr txBox="1"/>
          <p:nvPr/>
        </p:nvSpPr>
        <p:spPr>
          <a:xfrm>
            <a:off x="993913" y="358673"/>
            <a:ext cx="7593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Écriture du premier principe quand il y a plusieurs systèmes</a:t>
            </a:r>
            <a:endParaRPr lang="fr-FR" sz="24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99A301-0B40-404F-A86C-CC40EB7D2F4E}"/>
                  </a:ext>
                </a:extLst>
              </p:cNvPr>
              <p:cNvSpPr txBox="1"/>
              <p:nvPr/>
            </p:nvSpPr>
            <p:spPr>
              <a:xfrm>
                <a:off x="993913" y="1406600"/>
                <a:ext cx="12854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u="none" strike="noStrike" baseline="0" dirty="0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b="0" i="1" u="none" strike="noStrike" baseline="0" dirty="0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99A301-0B40-404F-A86C-CC40EB7D2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3" y="1406600"/>
                <a:ext cx="1285461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4BFEFF-A74D-4010-8BF6-F7ACD41B81B1}"/>
                  </a:ext>
                </a:extLst>
              </p:cNvPr>
              <p:cNvSpPr txBox="1"/>
              <p:nvPr/>
            </p:nvSpPr>
            <p:spPr>
              <a:xfrm>
                <a:off x="993913" y="1983070"/>
                <a:ext cx="12854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u="none" strike="noStrike" baseline="0" dirty="0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2400" b="0" i="1" u="none" strike="noStrike" baseline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u="none" strike="noStrike" baseline="0" dirty="0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4BFEFF-A74D-4010-8BF6-F7ACD41B8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3" y="1983070"/>
                <a:ext cx="128546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7F44A0-351A-4AA4-B95E-E5BD0487996B}"/>
              </a:ext>
            </a:extLst>
          </p:cNvPr>
          <p:cNvSpPr txBox="1"/>
          <p:nvPr/>
        </p:nvSpPr>
        <p:spPr>
          <a:xfrm>
            <a:off x="6261651" y="4284075"/>
            <a:ext cx="4651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0" i="0" u="none" strike="noStrike" baseline="0" dirty="0">
                <a:solidFill>
                  <a:srgbClr val="1F1A17"/>
                </a:solidFill>
                <a:latin typeface="TimesNewRoman"/>
              </a:rPr>
              <a:t>sens algébrique des échanges d’énergie</a:t>
            </a:r>
            <a:endParaRPr lang="fr-FR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ZoneTexte 3">
            <a:extLst>
              <a:ext uri="{FF2B5EF4-FFF2-40B4-BE49-F238E27FC236}">
                <a16:creationId xmlns:a16="http://schemas.microsoft.com/office/drawing/2014/main" id="{AAB0D2DB-5917-4C8C-AB21-0CFB9E4C6436}"/>
              </a:ext>
            </a:extLst>
          </p:cNvPr>
          <p:cNvSpPr txBox="1"/>
          <p:nvPr/>
        </p:nvSpPr>
        <p:spPr>
          <a:xfrm>
            <a:off x="633047" y="140676"/>
            <a:ext cx="7104380" cy="510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Capacité thermique à pression constante</a:t>
            </a:r>
          </a:p>
        </p:txBody>
      </p:sp>
      <p:sp>
        <p:nvSpPr>
          <p:cNvPr id="159" name="ZoneTexte 4">
            <a:extLst>
              <a:ext uri="{FF2B5EF4-FFF2-40B4-BE49-F238E27FC236}">
                <a16:creationId xmlns:a16="http://schemas.microsoft.com/office/drawing/2014/main" id="{D056D796-1DA6-43D1-9ED5-85D166D12E96}"/>
              </a:ext>
            </a:extLst>
          </p:cNvPr>
          <p:cNvSpPr txBox="1"/>
          <p:nvPr/>
        </p:nvSpPr>
        <p:spPr>
          <a:xfrm>
            <a:off x="633047" y="706099"/>
            <a:ext cx="39039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 Définition de l’enthalpie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299EB07-1117-4D2A-B545-DA38DE399FBC}"/>
                  </a:ext>
                </a:extLst>
              </p:cNvPr>
              <p:cNvSpPr txBox="1"/>
              <p:nvPr/>
            </p:nvSpPr>
            <p:spPr>
              <a:xfrm>
                <a:off x="781878" y="1208022"/>
                <a:ext cx="79380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b="1" i="0" u="none" strike="noStrike" baseline="0" dirty="0">
                    <a:latin typeface="TimesNewRoman,Bold"/>
                  </a:rPr>
                  <a:t>L’enthalpie d’un système est notée </a:t>
                </a:r>
                <a:r>
                  <a:rPr lang="fr-FR" sz="2000" b="1" i="1" u="none" strike="noStrike" baseline="0" dirty="0">
                    <a:latin typeface="TimesNewRoman,BoldItalic"/>
                  </a:rPr>
                  <a:t>H </a:t>
                </a:r>
                <a:r>
                  <a:rPr lang="fr-FR" sz="2000" b="1" i="0" u="none" strike="noStrike" baseline="0" dirty="0">
                    <a:latin typeface="TimesNewRoman,Bold"/>
                  </a:rPr>
                  <a:t>et définie par :  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299EB07-1117-4D2A-B545-DA38DE399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8" y="1208022"/>
                <a:ext cx="7938052" cy="400110"/>
              </a:xfrm>
              <a:prstGeom prst="rect">
                <a:avLst/>
              </a:prstGeom>
              <a:blipFill>
                <a:blip r:embed="rId2"/>
                <a:stretch>
                  <a:fillRect l="-691" t="-9091" b="-242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A4748D84-A75B-4F72-BFB6-85CB5B2BF1B4}"/>
              </a:ext>
            </a:extLst>
          </p:cNvPr>
          <p:cNvSpPr txBox="1"/>
          <p:nvPr/>
        </p:nvSpPr>
        <p:spPr>
          <a:xfrm>
            <a:off x="781878" y="196488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i="0" u="none" strike="noStrike" baseline="0" dirty="0">
                <a:latin typeface="TimesNewRoman"/>
              </a:rPr>
              <a:t>L’enthalpie est donc une </a:t>
            </a:r>
            <a:r>
              <a:rPr lang="fr-FR" sz="2000" b="1" i="0" u="none" strike="noStrike" baseline="0" dirty="0">
                <a:latin typeface="TimesNewRoman,Bold"/>
              </a:rPr>
              <a:t>fonction d’état extensive</a:t>
            </a:r>
            <a:r>
              <a:rPr lang="fr-FR" sz="2000" b="1" i="0" u="none" strike="noStrike" baseline="0" dirty="0">
                <a:latin typeface="TimesNewRoman"/>
              </a:rPr>
              <a:t>.</a:t>
            </a:r>
            <a:endParaRPr lang="fr-FR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590C34-8A09-4FDF-8E06-10FEF059E875}"/>
                  </a:ext>
                </a:extLst>
              </p:cNvPr>
              <p:cNvSpPr txBox="1"/>
              <p:nvPr/>
            </p:nvSpPr>
            <p:spPr>
              <a:xfrm>
                <a:off x="781878" y="2836829"/>
                <a:ext cx="6096000" cy="624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800" b="0" i="0" u="none" strike="noStrike" baseline="0" dirty="0">
                    <a:latin typeface="TimesNewRoman"/>
                  </a:rPr>
                  <a:t>On définit l’enthalpie massique :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num>
                      <m:den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endParaRPr lang="fr-FR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590C34-8A09-4FDF-8E06-10FEF059E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8" y="2836829"/>
                <a:ext cx="6096000" cy="624017"/>
              </a:xfrm>
              <a:prstGeom prst="rect">
                <a:avLst/>
              </a:prstGeom>
              <a:blipFill>
                <a:blip r:embed="rId3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AA6AB5-C5BD-49A1-9CF7-B28926A1A953}"/>
                  </a:ext>
                </a:extLst>
              </p:cNvPr>
              <p:cNvSpPr txBox="1"/>
              <p:nvPr/>
            </p:nvSpPr>
            <p:spPr>
              <a:xfrm>
                <a:off x="781878" y="3620673"/>
                <a:ext cx="4757531" cy="624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800" b="0" i="0" u="none" strike="noStrike" baseline="0" dirty="0">
                    <a:latin typeface="TimesNewRoman"/>
                  </a:rPr>
                  <a:t>On définit l’enthalpie molaire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num>
                      <m:den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fr-FR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AA6AB5-C5BD-49A1-9CF7-B28926A1A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8" y="3620673"/>
                <a:ext cx="4757531" cy="624017"/>
              </a:xfrm>
              <a:prstGeom prst="rect">
                <a:avLst/>
              </a:prstGeom>
              <a:blipFill>
                <a:blip r:embed="rId4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BBA7C2-D4F4-40BB-8797-12605E6B00DA}"/>
                  </a:ext>
                </a:extLst>
              </p:cNvPr>
              <p:cNvSpPr txBox="1"/>
              <p:nvPr/>
            </p:nvSpPr>
            <p:spPr>
              <a:xfrm>
                <a:off x="781878" y="4639125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1800" b="0" i="0" u="none" strike="noStrike" baseline="0" dirty="0">
                    <a:latin typeface="TimesNewRoman"/>
                  </a:rPr>
                  <a:t>On a en grandeurs massiques :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𝑷𝒗</m:t>
                    </m:r>
                  </m:oMath>
                </a14:m>
                <a:endParaRPr lang="fr-FR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BBA7C2-D4F4-40BB-8797-12605E6B0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8" y="4639125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 l="-600" b="-144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F166A5-22AA-4DC4-B828-E44C7AF0D3EC}"/>
                  </a:ext>
                </a:extLst>
              </p:cNvPr>
              <p:cNvSpPr txBox="1"/>
              <p:nvPr/>
            </p:nvSpPr>
            <p:spPr>
              <a:xfrm>
                <a:off x="6493565" y="4639125"/>
                <a:ext cx="28624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fr-FR" u="none" strike="noStrike" baseline="0" dirty="0"/>
                  <a:t>Où</a:t>
                </a:r>
                <a:r>
                  <a:rPr lang="fr-FR" sz="2400" b="1" u="none" strike="noStrike" baseline="0" dirty="0"/>
                  <a:t>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fr-FR" sz="2400" dirty="0"/>
                  <a:t> </a:t>
                </a:r>
                <a:r>
                  <a:rPr lang="fr-FR" dirty="0"/>
                  <a:t>: le volume massique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F166A5-22AA-4DC4-B828-E44C7AF0D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65" y="4639125"/>
                <a:ext cx="2862469" cy="461665"/>
              </a:xfrm>
              <a:prstGeom prst="rect">
                <a:avLst/>
              </a:prstGeom>
              <a:blipFill>
                <a:blip r:embed="rId6"/>
                <a:stretch>
                  <a:fillRect l="-1702" b="-157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9" name="ZoneTexte 3"/>
          <p:cNvSpPr txBox="1"/>
          <p:nvPr/>
        </p:nvSpPr>
        <p:spPr>
          <a:xfrm>
            <a:off x="633047" y="140676"/>
            <a:ext cx="7104380" cy="510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Capacité thermique à pression constante</a:t>
            </a:r>
          </a:p>
        </p:txBody>
      </p:sp>
      <p:sp>
        <p:nvSpPr>
          <p:cNvPr id="1049160" name="ZoneTexte 4"/>
          <p:cNvSpPr txBox="1"/>
          <p:nvPr/>
        </p:nvSpPr>
        <p:spPr>
          <a:xfrm>
            <a:off x="633047" y="706099"/>
            <a:ext cx="39039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 Définition de l’enthalpie</a:t>
            </a:r>
          </a:p>
        </p:txBody>
      </p:sp>
      <p:pic>
        <p:nvPicPr>
          <p:cNvPr id="2097170" name="Image 5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633047" y="1227388"/>
            <a:ext cx="10860258" cy="2810038"/>
          </a:xfrm>
          <a:prstGeom prst="rect">
            <a:avLst/>
          </a:prstGeom>
        </p:spPr>
      </p:pic>
      <p:sp>
        <p:nvSpPr>
          <p:cNvPr id="1049161" name="ZoneTexte 6"/>
          <p:cNvSpPr txBox="1"/>
          <p:nvPr/>
        </p:nvSpPr>
        <p:spPr>
          <a:xfrm>
            <a:off x="633046" y="4124608"/>
            <a:ext cx="63169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 Capacité thermique à pression constante</a:t>
            </a:r>
          </a:p>
        </p:txBody>
      </p:sp>
      <p:pic>
        <p:nvPicPr>
          <p:cNvPr id="2097171" name="Image 7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633046" y="4643120"/>
            <a:ext cx="7301132" cy="201089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497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640535" y="353450"/>
            <a:ext cx="7631268" cy="1095521"/>
          </a:xfrm>
          <a:prstGeom prst="rect">
            <a:avLst/>
          </a:prstGeom>
        </p:spPr>
      </p:pic>
      <p:pic>
        <p:nvPicPr>
          <p:cNvPr id="2097173" name="Image 4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640534" y="1658756"/>
            <a:ext cx="4283158" cy="760887"/>
          </a:xfrm>
          <a:prstGeom prst="rect">
            <a:avLst/>
          </a:prstGeom>
        </p:spPr>
      </p:pic>
      <p:pic>
        <p:nvPicPr>
          <p:cNvPr id="2097174" name="Image 5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640534" y="2629427"/>
            <a:ext cx="8573804" cy="1112579"/>
          </a:xfrm>
          <a:prstGeom prst="rect">
            <a:avLst/>
          </a:prstGeom>
        </p:spPr>
      </p:pic>
      <p:sp>
        <p:nvSpPr>
          <p:cNvPr id="1049162" name="ZoneTexte 6"/>
          <p:cNvSpPr txBox="1"/>
          <p:nvPr/>
        </p:nvSpPr>
        <p:spPr>
          <a:xfrm>
            <a:off x="640534" y="3951790"/>
            <a:ext cx="5059680" cy="510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Application à la calorimétrie</a:t>
            </a:r>
          </a:p>
        </p:txBody>
      </p:sp>
      <p:pic>
        <p:nvPicPr>
          <p:cNvPr id="2097175" name="Image 7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640534" y="5031360"/>
            <a:ext cx="9769558" cy="1566388"/>
          </a:xfrm>
          <a:prstGeom prst="rect">
            <a:avLst/>
          </a:prstGeom>
        </p:spPr>
      </p:pic>
      <p:sp>
        <p:nvSpPr>
          <p:cNvPr id="1049163" name="ZoneTexte 8"/>
          <p:cNvSpPr txBox="1"/>
          <p:nvPr/>
        </p:nvSpPr>
        <p:spPr>
          <a:xfrm>
            <a:off x="640534" y="4527730"/>
            <a:ext cx="22783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5.1 Généralités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4" name="ZoneTexte 6"/>
          <p:cNvSpPr txBox="1"/>
          <p:nvPr/>
        </p:nvSpPr>
        <p:spPr>
          <a:xfrm>
            <a:off x="488134" y="167190"/>
            <a:ext cx="5059680" cy="510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Application à la calorimétrie</a:t>
            </a:r>
          </a:p>
        </p:txBody>
      </p:sp>
      <p:pic>
        <p:nvPicPr>
          <p:cNvPr id="2097176" name="Image 7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488134" y="1246760"/>
            <a:ext cx="9769558" cy="1566388"/>
          </a:xfrm>
          <a:prstGeom prst="rect">
            <a:avLst/>
          </a:prstGeom>
        </p:spPr>
      </p:pic>
      <p:sp>
        <p:nvSpPr>
          <p:cNvPr id="1049165" name="ZoneTexte 8"/>
          <p:cNvSpPr txBox="1"/>
          <p:nvPr/>
        </p:nvSpPr>
        <p:spPr>
          <a:xfrm>
            <a:off x="488134" y="743130"/>
            <a:ext cx="22783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5.1 Généralités</a:t>
            </a:r>
          </a:p>
        </p:txBody>
      </p:sp>
      <p:pic>
        <p:nvPicPr>
          <p:cNvPr id="2097177" name="Image 3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398644" y="3097394"/>
            <a:ext cx="10025280" cy="1449626"/>
          </a:xfrm>
          <a:prstGeom prst="rect">
            <a:avLst/>
          </a:prstGeom>
        </p:spPr>
      </p:pic>
      <p:pic>
        <p:nvPicPr>
          <p:cNvPr id="2097178" name="Image 4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398644" y="4755085"/>
            <a:ext cx="10025280" cy="6918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Picture 2" descr="https://physique.ensc-rennes.fr/images/tp_calorimetrie/texte/calorimet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4320" y="2069307"/>
            <a:ext cx="3080825" cy="2230718"/>
          </a:xfrm>
          <a:prstGeom prst="rect">
            <a:avLst/>
          </a:prstGeom>
          <a:noFill/>
        </p:spPr>
      </p:pic>
      <p:sp>
        <p:nvSpPr>
          <p:cNvPr id="1049166" name="ZoneTexte 5"/>
          <p:cNvSpPr txBox="1"/>
          <p:nvPr/>
        </p:nvSpPr>
        <p:spPr>
          <a:xfrm>
            <a:off x="322444" y="185771"/>
            <a:ext cx="40817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5.2 Méthodes des mélanges</a:t>
            </a:r>
          </a:p>
        </p:txBody>
      </p:sp>
      <p:pic>
        <p:nvPicPr>
          <p:cNvPr id="2097180" name="Image 6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322444" y="695689"/>
            <a:ext cx="11440491" cy="1362506"/>
          </a:xfrm>
          <a:prstGeom prst="rect">
            <a:avLst/>
          </a:prstGeom>
        </p:spPr>
      </p:pic>
      <p:sp>
        <p:nvSpPr>
          <p:cNvPr id="1049167" name="Organigramme : Disque magnétique 7"/>
          <p:cNvSpPr/>
          <p:nvPr/>
        </p:nvSpPr>
        <p:spPr>
          <a:xfrm>
            <a:off x="4494061" y="2881970"/>
            <a:ext cx="345871" cy="280953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168" name="ZoneTexte 8"/>
          <p:cNvSpPr txBox="1"/>
          <p:nvPr/>
        </p:nvSpPr>
        <p:spPr>
          <a:xfrm>
            <a:off x="3631810" y="3196932"/>
            <a:ext cx="22021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Masse métallique</a:t>
            </a:r>
          </a:p>
        </p:txBody>
      </p:sp>
      <p:sp>
        <p:nvSpPr>
          <p:cNvPr id="1049169" name="Arc 9"/>
          <p:cNvSpPr/>
          <p:nvPr/>
        </p:nvSpPr>
        <p:spPr>
          <a:xfrm>
            <a:off x="1877389" y="3052128"/>
            <a:ext cx="7557343" cy="970671"/>
          </a:xfrm>
          <a:prstGeom prst="arc">
            <a:avLst>
              <a:gd name="adj1" fmla="val 12670031"/>
              <a:gd name="adj2" fmla="val 21587527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463511" y="133053"/>
            <a:ext cx="10607371" cy="42177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2" name="Picture 2" descr="Le schéma ci-dessou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281" y="3502857"/>
            <a:ext cx="3417619" cy="3094891"/>
          </a:xfrm>
          <a:prstGeom prst="rect">
            <a:avLst/>
          </a:prstGeom>
          <a:noFill/>
        </p:spPr>
      </p:pic>
      <p:sp>
        <p:nvSpPr>
          <p:cNvPr id="1049170" name="ZoneTexte 5"/>
          <p:cNvSpPr txBox="1"/>
          <p:nvPr/>
        </p:nvSpPr>
        <p:spPr>
          <a:xfrm>
            <a:off x="685859" y="455012"/>
            <a:ext cx="3700780" cy="44704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fr-MA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5.3 Méthodes électriques</a:t>
            </a:r>
          </a:p>
        </p:txBody>
      </p:sp>
      <p:pic>
        <p:nvPicPr>
          <p:cNvPr id="2097183" name="Image 3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685859" y="1094272"/>
            <a:ext cx="10666770" cy="208502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1934</Words>
  <Application>Microsoft Office PowerPoint</Application>
  <PresentationFormat>Widescreen</PresentationFormat>
  <Paragraphs>278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AR BLANCA</vt:lpstr>
      <vt:lpstr>Arial</vt:lpstr>
      <vt:lpstr>Calibri</vt:lpstr>
      <vt:lpstr>Calibri (Body)</vt:lpstr>
      <vt:lpstr>Calibri Light</vt:lpstr>
      <vt:lpstr>Cambria Math</vt:lpstr>
      <vt:lpstr>Lucida Handwriting</vt:lpstr>
      <vt:lpstr>MV Boli</vt:lpstr>
      <vt:lpstr>Symbol</vt:lpstr>
      <vt:lpstr>TimesNewRoman</vt:lpstr>
      <vt:lpstr>TimesNewRoman,Bold</vt:lpstr>
      <vt:lpstr>TimesNewRoman,BoldItalic</vt:lpstr>
      <vt:lpstr>TimesNewRoman,Italic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Ossama Azagrouze</dc:creator>
  <cp:lastModifiedBy>Ossama Azagrouze</cp:lastModifiedBy>
  <cp:revision>36</cp:revision>
  <dcterms:created xsi:type="dcterms:W3CDTF">2016-05-02T11:39:50Z</dcterms:created>
  <dcterms:modified xsi:type="dcterms:W3CDTF">2026-02-12T09:36:31Z</dcterms:modified>
</cp:coreProperties>
</file>